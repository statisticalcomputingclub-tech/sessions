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8" d="100"/>
          <a:sy n="58" d="100"/>
        </p:scale>
        <p:origin x="968"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9468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we're going to install R version 4.6.4 and RStudio, the most popular development environment for R. This tutorial is designed for complete beginners, so don't worry if you've never installed statistical software before. By the end of this session, you'll have both R and RStudio up and running and will have written your first lines of R code. I'm Dalton Womala, and I'll guide you through every step. Please follow along on your own computer, and feel free to ask questions at any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learning goals for today's workshop. By the end, you'll have a fully functional R environment. We'll start with understanding what R is, then download the correct installer, install it, and add RStudio on top. Finally, we'll run a simple command to verify everything works. This is a hands‑on session, so please follow along on your own machine. Don't worry if something goes wrong—we have a troubleshooting section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 is the software we'll be using to analyse data and perform statistical tests. It's completely free and open source, which means no licence fees. R is especially powerful because of its packages – thousands of add‑ons that do everything from advanced regression to interactive maps. If you're studying statistics or data science, R will be a core tool throughout your degree and career. I encourage you to explore it beyond the classroom.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open your browser and go to cran.r-project.org. CRAN is the global network of servers that host R. The page looks busy, but don't worry—you only need to click the link for your operating system. For Windows users, that's 'Download R for Windows'. The site may ask you to select a mirror (a server close to you). Choose one that is geographically near, e.g., UK, US, or Australia, for faster download. I'll walk you through the next steps in the following slides.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clicking 'Download R for Windows', you'll see several folders. Click on the one called 'base'. This is where the core R installer lives. On the base page, you'll find a link like 'Download R-4.6.4 for Windows'. Click it to start downloading the .exe file. The file is about 80 MB, so it should download quickly on a decent connection. If your internet is slow, be patient. While it downloads, I'll explain what we're about to install.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install R. The first screens are straightforward: run the .exe file, click Next on the welcome screen, and accept the license. The GPL license ensures R remains free for everyone. There's nothing to worry about here—just click through. The only thing you might change is the installation location, but I recommend leaving it as the default. If you have a solid‑state drive (SSD), the default is fine. We'll customise options in a moment.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component selection screen lets you choose what to install. Stick with the defaults, but you can uncheck 32‑bit files to save a little space. On the Additional Tasks page, I strongly recommend checking 'Create a desktop shortcut' and 'Register R's path'. The desktop shortcut gives you quick access, and registering the path helps RStudio find R automatically. Once installation starts, it usually takes 2–3 minutes. When it's done, leave the box checked to launch R and verify it works. We'll skip that for now and move to RStudio.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 itself is a command‑line program. RStudio is an Integrated Development Environment (IDE) that makes writing R code much easier, with a script editor, workspace viewer, and graphing tools. It's developed by a company called Posit (formerly RStudio). The free Desktop version is all you need. Go to posit.co/download/rstudio-desktop/ and click the big download button for Windows. The installer is about 200–300 MB.</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RStudio installation is incredibly simple. It's a standard Windows installer. Just click Next a few times and then Finish. It automatically detects your existing R installation, so there's no extra configuration needed. After finishing, you can launch RStudio from the desktop shortcut or Start menu. Let's do that next and explore the interface.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RStudio looks like when you first open it. The interface is divided into four main panes. The top‑left is the Source Editor where you write your scripts. The bottom‑left is the Console, where R code is executed and output appears. Top‑right shows your Environment (variables, data frames) and History. Bottom‑right contains tabs for Files, Plots, Packages, and Help. Don't worry if it seems overwhelming—we'll walk through each pane shortly. Right now, just confirm that RStudio opens without errors.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 users, the process is very similar, but you must choose the correct installer for your processor. If you have a Mac with an M1, M2, or M3 chip (from late 2020 onwards), download the arm64 .pkg file. If you have an older Intel‑based Mac, download the x86_64 .pkg. To check which you have, click the Apple logo → About This Mac. It will say either 'Chip: Apple M1' or 'Processor: 2.3 GHz Intel Core i5'. Download the appropriate file from the CRAN macOS page.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Installing R on macOS is also straightforward. Just double‑click the .pkg file and follow the on‑screen instructions. The key difference from Windows is that macOS will ask for your administrator password—the one you use to log in or install apps. This is normal. If you get a security warning about an unidentified developer, don't worry. Simply right‑click (or Control‑click) the .pkg file and choose 'Open', then confirm. R installs into your Applications folder by default.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Downloading RStudio for Mac gives you a .dmg file. Open it and you'll see a simple window with the RStudio app icon and a shortcut to the Applications folder. Just drag the RStudio icon into Applications. After that, you can launch RStudio from Launchpad or the Applications folder. Important: RStudio requires R to already be installed—it will detect it automatically. If you open RStudio and see an error about R not found, you may need to reinstall R first.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tour the main panes. The Script Editor (top‑left) is where you'll write and save your R code. It's a text editor with helpful features like syntax highlighting. You can run a line by pressing Ctrl+Enter (Cmd+Enter on Mac). The Console (bottom‑left) is the interactive R session. You can type commands directly there, but for reproducibility it's better to write scripts and send them to the Console. The Environment pane (top‑right) shows all your data. This is incredibly useful for seeing what variables you've created. The bottom‑right pane has tabs for Files (like a file explorer), Plots (where graphs appear), Packages (manage add‑ons), and Help (documentation). Any 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fun part – let's write some code. Click File → New File → R Script. In the blank editor, type print("Hello, World!"). Then, with your cursor anywhere on that line, press Ctrl+Enter (or Cmd+Enter on Mac). You'll see the output appear in the Console pane below. Also try 2+2 to see R work as a calculator. If you get an error, check that you typed the quotes correctly and that RStudio is connected to R (look for the R version in the Console). This simple test proves your installation is successful!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workshop is complete without a troubleshooting reference. This table covers the most frequent issues beginners face. The most common is RStudio not detecting R—simply reinstalling R and ensuring the path was registered usually fixes it. For package installation errors on Windows, installing Rtools often resolves the problem. If your plots don't show, check that the Plots pane is selected in the bottom‑right. I'll leave this slide up for a moment; please take a screenshot or photo for your records. Any current issues we can address?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 is not just another programming language—it is the lingua franca of statistics. Virtually every statistical method ever invented has been implemented in R. Whether you go into academia, government, or industry, R skills will set you apart. For your assignments, R will let you perform analyses that Excel simply cannot do, and produce graphics that you can use in reports and presentations. I encourage you to explore the vast world of R packages; there's a package for almost anything you can imagine.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few habits will save you hours of frustration. First, always use official download sources. Second, embrace RStudio Projects—they set your working directory automatically and keep everything tidy. Third, comment your code: even brief notes like 'load the survey data' make a huge difference. Finally, save your work often and consider using Git for version control if you're serious about data science. These small practices will make you a more efficient and professional R user.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review everything you've accomplished today. You've transformed your computer into a professional‑grade data analysis workstation. The skills you've learned—downloading, installing, and navigating R and RStudio—are the foundation for every statistics assignment, research project, and future job. Be proud of yourself! If anything isn't working, please stay after class or email me. The slides will be available on the course portal. Now, are there any final questions?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all for your attention and hard work today. I know installation workshops can be a bit dry, but having R and RStudio set up properly is essential for every class from here on. Please remember to refer back to the troubleshooting slide if you hit any snags later. I'll be around for the next 15 minutes to help anyone who still has issues. In our next session, we'll start with data types and vectors in R. See you then!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mailto:daltonwomalajeremiah@gmail.com"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3C6B"/>
        </a:solidFill>
        <a:effectLst/>
      </p:bgPr>
    </p:bg>
    <p:spTree>
      <p:nvGrpSpPr>
        <p:cNvPr id="1" name=""/>
        <p:cNvGrpSpPr/>
        <p:nvPr/>
      </p:nvGrpSpPr>
      <p:grpSpPr>
        <a:xfrm>
          <a:off x="0" y="0"/>
          <a:ext cx="0" cy="0"/>
          <a:chOff x="0" y="0"/>
          <a:chExt cx="0" cy="0"/>
        </a:xfrm>
      </p:grpSpPr>
      <p:sp>
        <p:nvSpPr>
          <p:cNvPr id="2" name="Oval 1"/>
          <p:cNvSpPr/>
          <p:nvPr/>
        </p:nvSpPr>
        <p:spPr>
          <a:xfrm>
            <a:off x="7772400" y="-1828800"/>
            <a:ext cx="6400800" cy="64008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2743200"/>
            <a:ext cx="4572000" cy="4572000"/>
          </a:xfrm>
          <a:prstGeom prst="ellipse">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7315200" cy="1371600"/>
          </a:xfrm>
          <a:prstGeom prst="rect">
            <a:avLst/>
          </a:prstGeom>
          <a:noFill/>
        </p:spPr>
        <p:txBody>
          <a:bodyPr wrap="square">
            <a:spAutoFit/>
          </a:bodyPr>
          <a:lstStyle/>
          <a:p>
            <a:pPr algn="l">
              <a:defRPr sz="4200" b="1">
                <a:solidFill>
                  <a:srgbClr val="FFFFFF"/>
                </a:solidFill>
                <a:latin typeface="Calibri Light"/>
              </a:defRPr>
            </a:pPr>
            <a:r>
              <a:t>Installing R 4.6.4 and RStudio</a:t>
            </a:r>
          </a:p>
        </p:txBody>
      </p:sp>
      <p:sp>
        <p:nvSpPr>
          <p:cNvPr id="5" name="TextBox 4"/>
          <p:cNvSpPr txBox="1"/>
          <p:nvPr/>
        </p:nvSpPr>
        <p:spPr>
          <a:xfrm>
            <a:off x="914400" y="2926080"/>
            <a:ext cx="7315200" cy="548640"/>
          </a:xfrm>
          <a:prstGeom prst="rect">
            <a:avLst/>
          </a:prstGeom>
          <a:noFill/>
        </p:spPr>
        <p:txBody>
          <a:bodyPr wrap="square">
            <a:spAutoFit/>
          </a:bodyPr>
          <a:lstStyle/>
          <a:p>
            <a:pPr algn="l">
              <a:defRPr sz="2200" b="0">
                <a:solidFill>
                  <a:srgbClr val="BBDDFF"/>
                </a:solidFill>
                <a:latin typeface="Calibri Light"/>
              </a:defRPr>
            </a:pPr>
            <a:r>
              <a:t>A Complete Beginner's Guide</a:t>
            </a:r>
          </a:p>
        </p:txBody>
      </p:sp>
      <p:sp>
        <p:nvSpPr>
          <p:cNvPr id="6" name="Rectangle 5"/>
          <p:cNvSpPr/>
          <p:nvPr/>
        </p:nvSpPr>
        <p:spPr>
          <a:xfrm>
            <a:off x="914400" y="3657600"/>
            <a:ext cx="2743200" cy="36576"/>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931920"/>
            <a:ext cx="7315200" cy="457200"/>
          </a:xfrm>
          <a:prstGeom prst="rect">
            <a:avLst/>
          </a:prstGeom>
          <a:noFill/>
        </p:spPr>
        <p:txBody>
          <a:bodyPr wrap="square">
            <a:spAutoFit/>
          </a:bodyPr>
          <a:lstStyle/>
          <a:p>
            <a:pPr algn="l">
              <a:defRPr sz="1600" b="0">
                <a:solidFill>
                  <a:srgbClr val="FFFFFF"/>
                </a:solidFill>
                <a:latin typeface="Calibri Light"/>
              </a:defRPr>
            </a:pPr>
            <a:r>
              <a:t>Prepared by Dalton Womala</a:t>
            </a:r>
          </a:p>
        </p:txBody>
      </p:sp>
      <p:sp>
        <p:nvSpPr>
          <p:cNvPr id="8" name="Oval 7"/>
          <p:cNvSpPr/>
          <p:nvPr/>
        </p:nvSpPr>
        <p:spPr>
          <a:xfrm>
            <a:off x="914400" y="4754880"/>
            <a:ext cx="822960" cy="8229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FFFFF"/>
                </a:solidFill>
                <a:latin typeface="Calibri"/>
              </a:defRPr>
            </a:pPr>
            <a:r>
              <a:t>R</a:t>
            </a:r>
          </a:p>
        </p:txBody>
      </p:sp>
      <p:sp>
        <p:nvSpPr>
          <p:cNvPr id="9" name="TextBox 8"/>
          <p:cNvSpPr txBox="1"/>
          <p:nvPr/>
        </p:nvSpPr>
        <p:spPr>
          <a:xfrm>
            <a:off x="1828800" y="4937760"/>
            <a:ext cx="1371600" cy="457200"/>
          </a:xfrm>
          <a:prstGeom prst="rect">
            <a:avLst/>
          </a:prstGeom>
          <a:noFill/>
        </p:spPr>
        <p:txBody>
          <a:bodyPr wrap="square">
            <a:spAutoFit/>
          </a:bodyPr>
          <a:lstStyle/>
          <a:p>
            <a:pPr algn="l">
              <a:defRPr sz="1200" b="0">
                <a:solidFill>
                  <a:srgbClr val="FFFFFF"/>
                </a:solidFill>
                <a:latin typeface="Calibri"/>
              </a:defRPr>
            </a:pPr>
            <a:r>
              <a:t>R Project</a:t>
            </a:r>
          </a:p>
        </p:txBody>
      </p:sp>
      <p:sp>
        <p:nvSpPr>
          <p:cNvPr id="10" name="Oval 9"/>
          <p:cNvSpPr/>
          <p:nvPr/>
        </p:nvSpPr>
        <p:spPr>
          <a:xfrm>
            <a:off x="3474720" y="4754880"/>
            <a:ext cx="822960" cy="822960"/>
          </a:xfrm>
          <a:prstGeom prst="ellipse">
            <a:avLst/>
          </a:prstGeom>
          <a:solidFill>
            <a:srgbClr val="4470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Calibri"/>
              </a:defRPr>
            </a:pPr>
            <a:r>
              <a:t>Ⓡ</a:t>
            </a:r>
          </a:p>
        </p:txBody>
      </p:sp>
      <p:sp>
        <p:nvSpPr>
          <p:cNvPr id="11" name="TextBox 10"/>
          <p:cNvSpPr txBox="1"/>
          <p:nvPr/>
        </p:nvSpPr>
        <p:spPr>
          <a:xfrm>
            <a:off x="4389120" y="4937760"/>
            <a:ext cx="1371600" cy="457200"/>
          </a:xfrm>
          <a:prstGeom prst="rect">
            <a:avLst/>
          </a:prstGeom>
          <a:noFill/>
        </p:spPr>
        <p:txBody>
          <a:bodyPr wrap="square">
            <a:spAutoFit/>
          </a:bodyPr>
          <a:lstStyle/>
          <a:p>
            <a:pPr algn="l">
              <a:defRPr sz="1200" b="0">
                <a:solidFill>
                  <a:srgbClr val="FFFFFF"/>
                </a:solidFill>
                <a:latin typeface="Calibri"/>
              </a:defRPr>
            </a:pPr>
            <a:r>
              <a:t>RStudio</a:t>
            </a:r>
          </a:p>
        </p:txBody>
      </p:sp>
      <p:sp>
        <p:nvSpPr>
          <p:cNvPr id="12" name="TextBox 11"/>
          <p:cNvSpPr txBox="1"/>
          <p:nvPr/>
        </p:nvSpPr>
        <p:spPr>
          <a:xfrm>
            <a:off x="5943600" y="4937760"/>
            <a:ext cx="1828800" cy="457200"/>
          </a:xfrm>
          <a:prstGeom prst="rect">
            <a:avLst/>
          </a:prstGeom>
          <a:noFill/>
        </p:spPr>
        <p:txBody>
          <a:bodyPr wrap="square">
            <a:spAutoFit/>
          </a:bodyPr>
          <a:lstStyle/>
          <a:p>
            <a:pPr algn="l">
              <a:defRPr sz="1400" b="1">
                <a:solidFill>
                  <a:srgbClr val="FFFFFF"/>
                </a:solidFill>
                <a:latin typeface="Calibri"/>
              </a:defRPr>
            </a:pPr>
            <a:r>
              <a:t>Posit™</a:t>
            </a:r>
          </a:p>
        </p:txBody>
      </p:sp>
      <p:sp>
        <p:nvSpPr>
          <p:cNvPr id="13" name="Rectangle 12"/>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4" name="TextBox 13"/>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Learning Objectives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What you'll accomplish today</a:t>
            </a:r>
          </a:p>
        </p:txBody>
      </p:sp>
      <p:sp>
        <p:nvSpPr>
          <p:cNvPr id="5" name="Oval 4"/>
          <p:cNvSpPr/>
          <p:nvPr/>
        </p:nvSpPr>
        <p:spPr>
          <a:xfrm>
            <a:off x="1097280" y="1463040"/>
            <a:ext cx="457200" cy="4572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01</a:t>
            </a:r>
          </a:p>
        </p:txBody>
      </p:sp>
      <p:sp>
        <p:nvSpPr>
          <p:cNvPr id="6" name="TextBox 5"/>
          <p:cNvSpPr txBox="1"/>
          <p:nvPr/>
        </p:nvSpPr>
        <p:spPr>
          <a:xfrm>
            <a:off x="1828800" y="1508760"/>
            <a:ext cx="8229600" cy="457200"/>
          </a:xfrm>
          <a:prstGeom prst="rect">
            <a:avLst/>
          </a:prstGeom>
          <a:noFill/>
        </p:spPr>
        <p:txBody>
          <a:bodyPr wrap="square">
            <a:spAutoFit/>
          </a:bodyPr>
          <a:lstStyle/>
          <a:p>
            <a:pPr algn="l">
              <a:defRPr sz="1800" b="0">
                <a:solidFill>
                  <a:srgbClr val="1A1A1A"/>
                </a:solidFill>
                <a:latin typeface="Calibri Light"/>
              </a:defRPr>
            </a:pPr>
            <a:r>
              <a:t>Understand what R is and why it is used in statistics</a:t>
            </a:r>
          </a:p>
        </p:txBody>
      </p:sp>
      <p:sp>
        <p:nvSpPr>
          <p:cNvPr id="7" name="Oval 6"/>
          <p:cNvSpPr/>
          <p:nvPr/>
        </p:nvSpPr>
        <p:spPr>
          <a:xfrm>
            <a:off x="1097280" y="2240280"/>
            <a:ext cx="457200" cy="4572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02</a:t>
            </a:r>
          </a:p>
        </p:txBody>
      </p:sp>
      <p:sp>
        <p:nvSpPr>
          <p:cNvPr id="8" name="TextBox 7"/>
          <p:cNvSpPr txBox="1"/>
          <p:nvPr/>
        </p:nvSpPr>
        <p:spPr>
          <a:xfrm>
            <a:off x="1828800" y="2286000"/>
            <a:ext cx="8229600" cy="457200"/>
          </a:xfrm>
          <a:prstGeom prst="rect">
            <a:avLst/>
          </a:prstGeom>
          <a:noFill/>
        </p:spPr>
        <p:txBody>
          <a:bodyPr wrap="square">
            <a:spAutoFit/>
          </a:bodyPr>
          <a:lstStyle/>
          <a:p>
            <a:pPr algn="l">
              <a:defRPr sz="1800" b="0">
                <a:solidFill>
                  <a:srgbClr val="1A1A1A"/>
                </a:solidFill>
                <a:latin typeface="Calibri Light"/>
              </a:defRPr>
            </a:pPr>
            <a:r>
              <a:t>Download R 4.6.4 for your operating system (Windows/macOS)</a:t>
            </a:r>
          </a:p>
        </p:txBody>
      </p:sp>
      <p:sp>
        <p:nvSpPr>
          <p:cNvPr id="9" name="Oval 8"/>
          <p:cNvSpPr/>
          <p:nvPr/>
        </p:nvSpPr>
        <p:spPr>
          <a:xfrm>
            <a:off x="1097280" y="3017520"/>
            <a:ext cx="457200" cy="4572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03</a:t>
            </a:r>
          </a:p>
        </p:txBody>
      </p:sp>
      <p:sp>
        <p:nvSpPr>
          <p:cNvPr id="10" name="TextBox 9"/>
          <p:cNvSpPr txBox="1"/>
          <p:nvPr/>
        </p:nvSpPr>
        <p:spPr>
          <a:xfrm>
            <a:off x="1828800" y="3063239"/>
            <a:ext cx="8229600" cy="457200"/>
          </a:xfrm>
          <a:prstGeom prst="rect">
            <a:avLst/>
          </a:prstGeom>
          <a:noFill/>
        </p:spPr>
        <p:txBody>
          <a:bodyPr wrap="square">
            <a:spAutoFit/>
          </a:bodyPr>
          <a:lstStyle/>
          <a:p>
            <a:pPr algn="l">
              <a:defRPr sz="1800" b="0">
                <a:solidFill>
                  <a:srgbClr val="1A1A1A"/>
                </a:solidFill>
                <a:latin typeface="Calibri Light"/>
              </a:defRPr>
            </a:pPr>
            <a:r>
              <a:t>Install R successfully on your computer</a:t>
            </a:r>
          </a:p>
        </p:txBody>
      </p:sp>
      <p:sp>
        <p:nvSpPr>
          <p:cNvPr id="11" name="Oval 10"/>
          <p:cNvSpPr/>
          <p:nvPr/>
        </p:nvSpPr>
        <p:spPr>
          <a:xfrm>
            <a:off x="1097280" y="3794760"/>
            <a:ext cx="457200" cy="4572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04</a:t>
            </a:r>
          </a:p>
        </p:txBody>
      </p:sp>
      <p:sp>
        <p:nvSpPr>
          <p:cNvPr id="12" name="TextBox 11"/>
          <p:cNvSpPr txBox="1"/>
          <p:nvPr/>
        </p:nvSpPr>
        <p:spPr>
          <a:xfrm>
            <a:off x="1828800" y="3840480"/>
            <a:ext cx="8229600" cy="457200"/>
          </a:xfrm>
          <a:prstGeom prst="rect">
            <a:avLst/>
          </a:prstGeom>
          <a:noFill/>
        </p:spPr>
        <p:txBody>
          <a:bodyPr wrap="square">
            <a:spAutoFit/>
          </a:bodyPr>
          <a:lstStyle/>
          <a:p>
            <a:pPr algn="l">
              <a:defRPr sz="1800" b="0">
                <a:solidFill>
                  <a:srgbClr val="1A1A1A"/>
                </a:solidFill>
                <a:latin typeface="Calibri Light"/>
              </a:defRPr>
            </a:pPr>
            <a:r>
              <a:t>Download and install RStudio Desktop (free edition)</a:t>
            </a:r>
          </a:p>
        </p:txBody>
      </p:sp>
      <p:sp>
        <p:nvSpPr>
          <p:cNvPr id="13" name="Oval 12"/>
          <p:cNvSpPr/>
          <p:nvPr/>
        </p:nvSpPr>
        <p:spPr>
          <a:xfrm>
            <a:off x="1097280" y="4572000"/>
            <a:ext cx="457200" cy="4572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05</a:t>
            </a:r>
          </a:p>
        </p:txBody>
      </p:sp>
      <p:sp>
        <p:nvSpPr>
          <p:cNvPr id="14" name="TextBox 13"/>
          <p:cNvSpPr txBox="1"/>
          <p:nvPr/>
        </p:nvSpPr>
        <p:spPr>
          <a:xfrm>
            <a:off x="1828800" y="4617720"/>
            <a:ext cx="8229600" cy="457200"/>
          </a:xfrm>
          <a:prstGeom prst="rect">
            <a:avLst/>
          </a:prstGeom>
          <a:noFill/>
        </p:spPr>
        <p:txBody>
          <a:bodyPr wrap="square">
            <a:spAutoFit/>
          </a:bodyPr>
          <a:lstStyle/>
          <a:p>
            <a:pPr algn="l">
              <a:defRPr sz="1800" b="0">
                <a:solidFill>
                  <a:srgbClr val="1A1A1A"/>
                </a:solidFill>
                <a:latin typeface="Calibri Light"/>
              </a:defRPr>
            </a:pPr>
            <a:r>
              <a:t>Launch RStudio and explore its main components</a:t>
            </a:r>
          </a:p>
        </p:txBody>
      </p:sp>
      <p:sp>
        <p:nvSpPr>
          <p:cNvPr id="15" name="Oval 14"/>
          <p:cNvSpPr/>
          <p:nvPr/>
        </p:nvSpPr>
        <p:spPr>
          <a:xfrm>
            <a:off x="1097280" y="5349240"/>
            <a:ext cx="457200" cy="4572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06</a:t>
            </a:r>
          </a:p>
        </p:txBody>
      </p:sp>
      <p:sp>
        <p:nvSpPr>
          <p:cNvPr id="16" name="TextBox 15"/>
          <p:cNvSpPr txBox="1"/>
          <p:nvPr/>
        </p:nvSpPr>
        <p:spPr>
          <a:xfrm>
            <a:off x="1828800" y="5394959"/>
            <a:ext cx="8229600" cy="457200"/>
          </a:xfrm>
          <a:prstGeom prst="rect">
            <a:avLst/>
          </a:prstGeom>
          <a:noFill/>
        </p:spPr>
        <p:txBody>
          <a:bodyPr wrap="square">
            <a:spAutoFit/>
          </a:bodyPr>
          <a:lstStyle/>
          <a:p>
            <a:pPr algn="l">
              <a:defRPr sz="1800" b="0">
                <a:solidFill>
                  <a:srgbClr val="1A1A1A"/>
                </a:solidFill>
                <a:latin typeface="Calibri Light"/>
              </a:defRPr>
            </a:pPr>
            <a:r>
              <a:t>Write and run your first R program (Hello World!)</a:t>
            </a:r>
          </a:p>
        </p:txBody>
      </p:sp>
      <p:sp>
        <p:nvSpPr>
          <p:cNvPr id="17" name="Rectangle 16"/>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8" name="TextBox 17"/>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What is R?</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The language of data and statistics</a:t>
            </a:r>
          </a:p>
        </p:txBody>
      </p:sp>
      <p:sp>
        <p:nvSpPr>
          <p:cNvPr id="5" name="Oval 4"/>
          <p:cNvSpPr/>
          <p:nvPr/>
        </p:nvSpPr>
        <p:spPr>
          <a:xfrm>
            <a:off x="914400" y="1463040"/>
            <a:ext cx="1097280" cy="109728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4000" b="1">
                <a:solidFill>
                  <a:srgbClr val="FFFFFF"/>
                </a:solidFill>
                <a:latin typeface="Calibri"/>
              </a:defRPr>
            </a:pPr>
            <a:r>
              <a:t>R</a:t>
            </a:r>
          </a:p>
        </p:txBody>
      </p:sp>
      <p:sp>
        <p:nvSpPr>
          <p:cNvPr id="6" name="Rectangle 5"/>
          <p:cNvSpPr/>
          <p:nvPr/>
        </p:nvSpPr>
        <p:spPr>
          <a:xfrm>
            <a:off x="2377440" y="1417320"/>
            <a:ext cx="54864" cy="82296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51760" y="1371600"/>
            <a:ext cx="8686800" cy="320040"/>
          </a:xfrm>
          <a:prstGeom prst="rect">
            <a:avLst/>
          </a:prstGeom>
          <a:noFill/>
        </p:spPr>
        <p:txBody>
          <a:bodyPr wrap="square">
            <a:spAutoFit/>
          </a:bodyPr>
          <a:lstStyle/>
          <a:p>
            <a:pPr algn="l">
              <a:defRPr sz="1600" b="1">
                <a:solidFill>
                  <a:srgbClr val="0F3C6B"/>
                </a:solidFill>
                <a:latin typeface="Calibri"/>
              </a:defRPr>
            </a:pPr>
            <a:r>
              <a:t>Open-Source Statistical Language</a:t>
            </a:r>
          </a:p>
        </p:txBody>
      </p:sp>
      <p:sp>
        <p:nvSpPr>
          <p:cNvPr id="8" name="TextBox 7"/>
          <p:cNvSpPr txBox="1"/>
          <p:nvPr/>
        </p:nvSpPr>
        <p:spPr>
          <a:xfrm>
            <a:off x="2651760" y="1691640"/>
            <a:ext cx="8686800" cy="640080"/>
          </a:xfrm>
          <a:prstGeom prst="rect">
            <a:avLst/>
          </a:prstGeom>
          <a:noFill/>
        </p:spPr>
        <p:txBody>
          <a:bodyPr wrap="square">
            <a:spAutoFit/>
          </a:bodyPr>
          <a:lstStyle/>
          <a:p>
            <a:pPr algn="l">
              <a:defRPr sz="1200" b="0">
                <a:solidFill>
                  <a:srgbClr val="4A4A4A"/>
                </a:solidFill>
                <a:latin typeface="Calibri Light"/>
              </a:defRPr>
            </a:pPr>
            <a:r>
              <a:t>R is a free programming language and software environment for statistical computing and graphics. It was created by Ross Ihaka and Robert Gentleman at the University of Auckland, New Zealand, in 1993.</a:t>
            </a:r>
          </a:p>
        </p:txBody>
      </p:sp>
      <p:sp>
        <p:nvSpPr>
          <p:cNvPr id="9" name="Rectangle 8"/>
          <p:cNvSpPr/>
          <p:nvPr/>
        </p:nvSpPr>
        <p:spPr>
          <a:xfrm>
            <a:off x="2377440" y="2606039"/>
            <a:ext cx="54864" cy="82296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51760" y="2560320"/>
            <a:ext cx="8686800" cy="320040"/>
          </a:xfrm>
          <a:prstGeom prst="rect">
            <a:avLst/>
          </a:prstGeom>
          <a:noFill/>
        </p:spPr>
        <p:txBody>
          <a:bodyPr wrap="square">
            <a:spAutoFit/>
          </a:bodyPr>
          <a:lstStyle/>
          <a:p>
            <a:pPr algn="l">
              <a:defRPr sz="1600" b="1">
                <a:solidFill>
                  <a:srgbClr val="0F3C6B"/>
                </a:solidFill>
                <a:latin typeface="Calibri"/>
              </a:defRPr>
            </a:pPr>
            <a:r>
              <a:t>Why Statisticians Love R</a:t>
            </a:r>
          </a:p>
        </p:txBody>
      </p:sp>
      <p:sp>
        <p:nvSpPr>
          <p:cNvPr id="11" name="TextBox 10"/>
          <p:cNvSpPr txBox="1"/>
          <p:nvPr/>
        </p:nvSpPr>
        <p:spPr>
          <a:xfrm>
            <a:off x="2651760" y="2880360"/>
            <a:ext cx="8686800" cy="640080"/>
          </a:xfrm>
          <a:prstGeom prst="rect">
            <a:avLst/>
          </a:prstGeom>
          <a:noFill/>
        </p:spPr>
        <p:txBody>
          <a:bodyPr wrap="square">
            <a:spAutoFit/>
          </a:bodyPr>
          <a:lstStyle/>
          <a:p>
            <a:pPr algn="l">
              <a:defRPr sz="1200" b="0">
                <a:solidFill>
                  <a:srgbClr val="4A4A4A"/>
                </a:solidFill>
                <a:latin typeface="Calibri Light"/>
              </a:defRPr>
            </a:pPr>
            <a:r>
              <a:t>R was built by statisticians for statisticians. It contains an unparalleled collection of statistical techniques (linear modelling, time series, clustering, etc.) and produces publication‑quality graphics.</a:t>
            </a:r>
          </a:p>
        </p:txBody>
      </p:sp>
      <p:sp>
        <p:nvSpPr>
          <p:cNvPr id="12" name="Rectangle 11"/>
          <p:cNvSpPr/>
          <p:nvPr/>
        </p:nvSpPr>
        <p:spPr>
          <a:xfrm>
            <a:off x="2377440" y="3794759"/>
            <a:ext cx="54864" cy="82296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51760" y="3749039"/>
            <a:ext cx="8686800" cy="320040"/>
          </a:xfrm>
          <a:prstGeom prst="rect">
            <a:avLst/>
          </a:prstGeom>
          <a:noFill/>
        </p:spPr>
        <p:txBody>
          <a:bodyPr wrap="square">
            <a:spAutoFit/>
          </a:bodyPr>
          <a:lstStyle/>
          <a:p>
            <a:pPr algn="l">
              <a:defRPr sz="1600" b="1">
                <a:solidFill>
                  <a:srgbClr val="0F3C6B"/>
                </a:solidFill>
                <a:latin typeface="Calibri"/>
              </a:defRPr>
            </a:pPr>
            <a:r>
              <a:t>Wide Range of Applications</a:t>
            </a:r>
          </a:p>
        </p:txBody>
      </p:sp>
      <p:sp>
        <p:nvSpPr>
          <p:cNvPr id="14" name="TextBox 13"/>
          <p:cNvSpPr txBox="1"/>
          <p:nvPr/>
        </p:nvSpPr>
        <p:spPr>
          <a:xfrm>
            <a:off x="2651760" y="4069079"/>
            <a:ext cx="8686800" cy="640080"/>
          </a:xfrm>
          <a:prstGeom prst="rect">
            <a:avLst/>
          </a:prstGeom>
          <a:noFill/>
        </p:spPr>
        <p:txBody>
          <a:bodyPr wrap="square">
            <a:spAutoFit/>
          </a:bodyPr>
          <a:lstStyle/>
          <a:p>
            <a:pPr algn="l">
              <a:defRPr sz="1200" b="0">
                <a:solidFill>
                  <a:srgbClr val="4A4A4A"/>
                </a:solidFill>
                <a:latin typeface="Calibri Light"/>
              </a:defRPr>
            </a:pPr>
            <a:r>
              <a:t>R is used in: • Statistics and data analysis • Data visualization (ggplot2) • Machine learning • Econometrics • Biostatistics • Epidemiology • Financial modelling • Social sciences</a:t>
            </a:r>
          </a:p>
        </p:txBody>
      </p:sp>
      <p:sp>
        <p:nvSpPr>
          <p:cNvPr id="15" name="Rectangle 14"/>
          <p:cNvSpPr/>
          <p:nvPr/>
        </p:nvSpPr>
        <p:spPr>
          <a:xfrm>
            <a:off x="2377440" y="4983480"/>
            <a:ext cx="54864" cy="82296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51760" y="4937760"/>
            <a:ext cx="8686800" cy="320040"/>
          </a:xfrm>
          <a:prstGeom prst="rect">
            <a:avLst/>
          </a:prstGeom>
          <a:noFill/>
        </p:spPr>
        <p:txBody>
          <a:bodyPr wrap="square">
            <a:spAutoFit/>
          </a:bodyPr>
          <a:lstStyle/>
          <a:p>
            <a:pPr algn="l">
              <a:defRPr sz="1600" b="1">
                <a:solidFill>
                  <a:srgbClr val="0F3C6B"/>
                </a:solidFill>
                <a:latin typeface="Calibri"/>
              </a:defRPr>
            </a:pPr>
            <a:r>
              <a:t>Community and Packages</a:t>
            </a:r>
          </a:p>
        </p:txBody>
      </p:sp>
      <p:sp>
        <p:nvSpPr>
          <p:cNvPr id="17" name="TextBox 16"/>
          <p:cNvSpPr txBox="1"/>
          <p:nvPr/>
        </p:nvSpPr>
        <p:spPr>
          <a:xfrm>
            <a:off x="2651760" y="5257800"/>
            <a:ext cx="8686800" cy="640080"/>
          </a:xfrm>
          <a:prstGeom prst="rect">
            <a:avLst/>
          </a:prstGeom>
          <a:noFill/>
        </p:spPr>
        <p:txBody>
          <a:bodyPr wrap="square">
            <a:spAutoFit/>
          </a:bodyPr>
          <a:lstStyle/>
          <a:p>
            <a:pPr algn="l">
              <a:defRPr sz="1200" b="0">
                <a:solidFill>
                  <a:srgbClr val="4A4A4A"/>
                </a:solidFill>
                <a:latin typeface="Calibri Light"/>
              </a:defRPr>
            </a:pPr>
            <a:r>
              <a:t>The Comprehensive R Archive Network (CRAN) hosts over 20,000 add‑on packages, extending R's capabilities. The community is active and welcoming, making it easy to get help.</a:t>
            </a:r>
          </a:p>
        </p:txBody>
      </p:sp>
      <p:sp>
        <p:nvSpPr>
          <p:cNvPr id="18" name="Rectangle 17"/>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9" name="TextBox 18"/>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Downloading R 4.6.4 on Windows – Step 1</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Visit the official CRAN website</a:t>
            </a:r>
          </a:p>
        </p:txBody>
      </p:sp>
      <p:sp>
        <p:nvSpPr>
          <p:cNvPr id="5" name="Oval 4"/>
          <p:cNvSpPr/>
          <p:nvPr/>
        </p:nvSpPr>
        <p:spPr>
          <a:xfrm>
            <a:off x="640080" y="146304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463040"/>
            <a:ext cx="5486400" cy="365760"/>
          </a:xfrm>
          <a:prstGeom prst="rect">
            <a:avLst/>
          </a:prstGeom>
          <a:noFill/>
        </p:spPr>
        <p:txBody>
          <a:bodyPr wrap="square">
            <a:spAutoFit/>
          </a:bodyPr>
          <a:lstStyle/>
          <a:p>
            <a:pPr algn="l">
              <a:defRPr sz="2000" b="1">
                <a:solidFill>
                  <a:srgbClr val="0F3C6B"/>
                </a:solidFill>
                <a:latin typeface="Calibri"/>
              </a:defRPr>
            </a:pPr>
            <a:r>
              <a:t>Open your browser and go to CRAN</a:t>
            </a:r>
          </a:p>
        </p:txBody>
      </p:sp>
      <p:sp>
        <p:nvSpPr>
          <p:cNvPr id="7" name="TextBox 6"/>
          <p:cNvSpPr txBox="1"/>
          <p:nvPr/>
        </p:nvSpPr>
        <p:spPr>
          <a:xfrm>
            <a:off x="1188720" y="1874519"/>
            <a:ext cx="5486400" cy="457200"/>
          </a:xfrm>
          <a:prstGeom prst="rect">
            <a:avLst/>
          </a:prstGeom>
          <a:noFill/>
        </p:spPr>
        <p:txBody>
          <a:bodyPr wrap="square">
            <a:spAutoFit/>
          </a:bodyPr>
          <a:lstStyle/>
          <a:p>
            <a:pPr algn="l">
              <a:defRPr sz="1300" b="0">
                <a:solidFill>
                  <a:srgbClr val="4A4A4A"/>
                </a:solidFill>
                <a:latin typeface="Calibri"/>
              </a:defRPr>
            </a:pPr>
            <a:r>
              <a:t>Launch Chrome, Edge or Firefox and navigate to https://cran.r-project.org. This is the only place you should download R.</a:t>
            </a:r>
          </a:p>
        </p:txBody>
      </p:sp>
      <p:sp>
        <p:nvSpPr>
          <p:cNvPr id="8" name="Rounded Rectangle 7"/>
          <p:cNvSpPr/>
          <p:nvPr/>
        </p:nvSpPr>
        <p:spPr>
          <a:xfrm>
            <a:off x="1188720" y="2468880"/>
            <a:ext cx="6858000" cy="347472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88720" y="2468880"/>
            <a:ext cx="6858000" cy="320040"/>
          </a:xfrm>
          <a:prstGeom prst="rect">
            <a:avLst/>
          </a:prstGeom>
          <a:solidFill>
            <a:srgbClr val="DE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25880" y="2542032"/>
            <a:ext cx="109728" cy="109728"/>
          </a:xfrm>
          <a:prstGeom prst="ellipse">
            <a:avLst/>
          </a:prstGeom>
          <a:solidFill>
            <a:srgbClr val="DB4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508760" y="2542032"/>
            <a:ext cx="109728" cy="109728"/>
          </a:xfrm>
          <a:prstGeom prst="ellipse">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691640" y="2542032"/>
            <a:ext cx="109728" cy="109728"/>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20240" y="2514600"/>
            <a:ext cx="5943600" cy="228600"/>
          </a:xfrm>
          <a:prstGeom prst="rect">
            <a:avLst/>
          </a:prstGeom>
          <a:noFill/>
        </p:spPr>
        <p:txBody>
          <a:bodyPr wrap="square">
            <a:spAutoFit/>
          </a:bodyPr>
          <a:lstStyle/>
          <a:p>
            <a:pPr algn="l">
              <a:defRPr sz="900" b="0">
                <a:solidFill>
                  <a:srgbClr val="4A4A4A"/>
                </a:solidFill>
                <a:latin typeface="Calibri"/>
              </a:defRPr>
            </a:pPr>
            <a:r>
              <a:t>The Comprehensive R Archive Network</a:t>
            </a:r>
          </a:p>
        </p:txBody>
      </p:sp>
      <p:sp>
        <p:nvSpPr>
          <p:cNvPr id="14" name="Rounded Rectangle 13"/>
          <p:cNvSpPr/>
          <p:nvPr/>
        </p:nvSpPr>
        <p:spPr>
          <a:xfrm>
            <a:off x="1280160" y="2852928"/>
            <a:ext cx="6675120" cy="256032"/>
          </a:xfrm>
          <a:prstGeom prst="roundRect">
            <a:avLst/>
          </a:prstGeom>
          <a:solidFill>
            <a:srgbClr val="F5F6F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2871216"/>
            <a:ext cx="6492240" cy="219456"/>
          </a:xfrm>
          <a:prstGeom prst="rect">
            <a:avLst/>
          </a:prstGeom>
          <a:noFill/>
        </p:spPr>
        <p:txBody>
          <a:bodyPr wrap="square">
            <a:spAutoFit/>
          </a:bodyPr>
          <a:lstStyle/>
          <a:p>
            <a:pPr algn="l">
              <a:defRPr sz="800" b="0">
                <a:solidFill>
                  <a:srgbClr val="4A4A4A"/>
                </a:solidFill>
                <a:latin typeface="Calibri"/>
              </a:defRPr>
            </a:pPr>
            <a:r>
              <a:t>https://cran.r-project.org</a:t>
            </a:r>
          </a:p>
        </p:txBody>
      </p:sp>
      <p:sp>
        <p:nvSpPr>
          <p:cNvPr id="16" name="TextBox 15"/>
          <p:cNvSpPr txBox="1"/>
          <p:nvPr/>
        </p:nvSpPr>
        <p:spPr>
          <a:xfrm>
            <a:off x="1325880" y="3200400"/>
            <a:ext cx="6583680" cy="2606039"/>
          </a:xfrm>
          <a:prstGeom prst="rect">
            <a:avLst/>
          </a:prstGeom>
          <a:noFill/>
        </p:spPr>
        <p:txBody>
          <a:bodyPr wrap="square">
            <a:spAutoFit/>
          </a:bodyPr>
          <a:lstStyle/>
          <a:p>
            <a:pPr algn="l">
              <a:defRPr sz="900" b="0">
                <a:solidFill>
                  <a:srgbClr val="1A1A1A"/>
                </a:solidFill>
                <a:latin typeface="Calibri"/>
              </a:defRPr>
            </a:pPr>
            <a:r>
              <a:t>🌐 CRAN</a:t>
            </a:r>
            <a:br/>
            <a:br/>
            <a:r>
              <a:t>The Comprehensive R Archive Network</a:t>
            </a:r>
            <a:br/>
            <a:br/>
            <a:r>
              <a:t>┌────────────────────────────────────────────┐</a:t>
            </a:r>
            <a:br/>
            <a:r>
              <a:t>│ Download and Install R                      │</a:t>
            </a:r>
            <a:br/>
            <a:r>
              <a:t>│                                            │</a:t>
            </a:r>
            <a:br/>
            <a:r>
              <a:t>│ • Download R for Windows                   │</a:t>
            </a:r>
            <a:br/>
            <a:r>
              <a:t>│ • Download R for macOS                     │</a:t>
            </a:r>
            <a:br/>
            <a:r>
              <a:t>│ • Download R for Linux                     │</a:t>
            </a:r>
            <a:br/>
            <a:r>
              <a:t>└────────────────────────────────────────────┘</a:t>
            </a:r>
            <a:br/>
            <a:br/>
            <a:r>
              <a:t>Precompiled binary distributions of the base system</a:t>
            </a:r>
            <a:br/>
            <a:r>
              <a:t>and contributed packages, Windows and macOS users</a:t>
            </a:r>
            <a:br/>
            <a:r>
              <a:t>most likely want one of these versions of R.</a:t>
            </a:r>
          </a:p>
        </p:txBody>
      </p:sp>
      <p:sp>
        <p:nvSpPr>
          <p:cNvPr id="17" name="Rounded Rectangle 16"/>
          <p:cNvSpPr/>
          <p:nvPr/>
        </p:nvSpPr>
        <p:spPr>
          <a:xfrm>
            <a:off x="8412480" y="2468880"/>
            <a:ext cx="320040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 Click 'Download R</a:t>
            </a:r>
            <a:br/>
            <a:r>
              <a:t>for Windows'</a:t>
            </a:r>
          </a:p>
        </p:txBody>
      </p:sp>
      <p:sp>
        <p:nvSpPr>
          <p:cNvPr id="18" name="Down Arrow 17"/>
          <p:cNvSpPr/>
          <p:nvPr/>
        </p:nvSpPr>
        <p:spPr>
          <a:xfrm>
            <a:off x="8046720" y="3200400"/>
            <a:ext cx="320040" cy="548640"/>
          </a:xfrm>
          <a:prstGeom prst="downArrow">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6126480"/>
            <a:ext cx="9144000" cy="365760"/>
          </a:xfrm>
          <a:prstGeom prst="rect">
            <a:avLst/>
          </a:prstGeom>
          <a:noFill/>
        </p:spPr>
        <p:txBody>
          <a:bodyPr wrap="square">
            <a:spAutoFit/>
          </a:bodyPr>
          <a:lstStyle/>
          <a:p>
            <a:pPr algn="l">
              <a:defRPr sz="1000" b="0">
                <a:solidFill>
                  <a:srgbClr val="0F9D58"/>
                </a:solidFill>
                <a:latin typeface="Calibri Light"/>
              </a:defRPr>
            </a:pPr>
            <a:r>
              <a:t>💡 Tip: CRAN is the official source. Never download R from third‑party websites.</a:t>
            </a:r>
          </a:p>
        </p:txBody>
      </p:sp>
      <p:sp>
        <p:nvSpPr>
          <p:cNvPr id="20" name="Rectangle 19"/>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1" name="TextBox 20"/>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Downloading R on Windows – Step 2</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Choose 'base' and download the installer</a:t>
            </a:r>
          </a:p>
        </p:txBody>
      </p:sp>
      <p:sp>
        <p:nvSpPr>
          <p:cNvPr id="5" name="Oval 4"/>
          <p:cNvSpPr/>
          <p:nvPr/>
        </p:nvSpPr>
        <p:spPr>
          <a:xfrm>
            <a:off x="640080" y="146304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2</a:t>
            </a:r>
          </a:p>
        </p:txBody>
      </p:sp>
      <p:sp>
        <p:nvSpPr>
          <p:cNvPr id="6" name="TextBox 5"/>
          <p:cNvSpPr txBox="1"/>
          <p:nvPr/>
        </p:nvSpPr>
        <p:spPr>
          <a:xfrm>
            <a:off x="1188720" y="1463040"/>
            <a:ext cx="5486400" cy="365760"/>
          </a:xfrm>
          <a:prstGeom prst="rect">
            <a:avLst/>
          </a:prstGeom>
          <a:noFill/>
        </p:spPr>
        <p:txBody>
          <a:bodyPr wrap="square">
            <a:spAutoFit/>
          </a:bodyPr>
          <a:lstStyle/>
          <a:p>
            <a:pPr algn="l">
              <a:defRPr sz="2000" b="1">
                <a:solidFill>
                  <a:srgbClr val="0F3C6B"/>
                </a:solidFill>
                <a:latin typeface="Calibri"/>
              </a:defRPr>
            </a:pPr>
            <a:r>
              <a:t>Click on 'base'</a:t>
            </a:r>
          </a:p>
        </p:txBody>
      </p:sp>
      <p:sp>
        <p:nvSpPr>
          <p:cNvPr id="7" name="TextBox 6"/>
          <p:cNvSpPr txBox="1"/>
          <p:nvPr/>
        </p:nvSpPr>
        <p:spPr>
          <a:xfrm>
            <a:off x="1188720" y="1874519"/>
            <a:ext cx="5486400" cy="457200"/>
          </a:xfrm>
          <a:prstGeom prst="rect">
            <a:avLst/>
          </a:prstGeom>
          <a:noFill/>
        </p:spPr>
        <p:txBody>
          <a:bodyPr wrap="square">
            <a:spAutoFit/>
          </a:bodyPr>
          <a:lstStyle/>
          <a:p>
            <a:pPr algn="l">
              <a:defRPr sz="1300" b="0">
                <a:solidFill>
                  <a:srgbClr val="4A4A4A"/>
                </a:solidFill>
                <a:latin typeface="Calibri"/>
              </a:defRPr>
            </a:pPr>
            <a:r>
              <a:t>On the next page, click the 'base' link to get the basic R installation.</a:t>
            </a:r>
          </a:p>
        </p:txBody>
      </p:sp>
      <p:sp>
        <p:nvSpPr>
          <p:cNvPr id="8" name="Rounded Rectangle 7"/>
          <p:cNvSpPr/>
          <p:nvPr/>
        </p:nvSpPr>
        <p:spPr>
          <a:xfrm>
            <a:off x="1188720" y="2468880"/>
            <a:ext cx="6858000" cy="292608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2560320"/>
            <a:ext cx="6400800" cy="274320"/>
          </a:xfrm>
          <a:prstGeom prst="rect">
            <a:avLst/>
          </a:prstGeom>
          <a:noFill/>
        </p:spPr>
        <p:txBody>
          <a:bodyPr wrap="square">
            <a:spAutoFit/>
          </a:bodyPr>
          <a:lstStyle/>
          <a:p>
            <a:pPr algn="l">
              <a:defRPr sz="1400" b="1">
                <a:solidFill>
                  <a:srgbClr val="0F3C6B"/>
                </a:solidFill>
                <a:latin typeface="Calibri"/>
              </a:defRPr>
            </a:pPr>
            <a:r>
              <a:t>R for Windows</a:t>
            </a:r>
          </a:p>
        </p:txBody>
      </p:sp>
      <p:sp>
        <p:nvSpPr>
          <p:cNvPr id="10" name="TextBox 9"/>
          <p:cNvSpPr txBox="1"/>
          <p:nvPr/>
        </p:nvSpPr>
        <p:spPr>
          <a:xfrm>
            <a:off x="1371600" y="2926080"/>
            <a:ext cx="6400800" cy="2286000"/>
          </a:xfrm>
          <a:prstGeom prst="rect">
            <a:avLst/>
          </a:prstGeom>
          <a:noFill/>
        </p:spPr>
        <p:txBody>
          <a:bodyPr wrap="square">
            <a:spAutoFit/>
          </a:bodyPr>
          <a:lstStyle/>
          <a:p>
            <a:pPr algn="l">
              <a:defRPr sz="1100" b="0">
                <a:solidFill>
                  <a:srgbClr val="1A1A1A"/>
                </a:solidFill>
                <a:latin typeface="Calibri"/>
              </a:defRPr>
            </a:pPr>
            <a:r>
              <a:t>Subdirectories:</a:t>
            </a:r>
            <a:br/>
            <a:br/>
            <a:r>
              <a:t>  📁 base           ← Click this</a:t>
            </a:r>
            <a:br/>
            <a:r>
              <a:t>  📁 contrib</a:t>
            </a:r>
            <a:br/>
            <a:r>
              <a:t>  📁 old contrib</a:t>
            </a:r>
            <a:br/>
            <a:r>
              <a:t>  📁 Rtools</a:t>
            </a:r>
            <a:br/>
            <a:br/>
            <a:r>
              <a:t>Binaries for base distribution (managed by Duncan Murdoch).</a:t>
            </a:r>
          </a:p>
        </p:txBody>
      </p:sp>
      <p:sp>
        <p:nvSpPr>
          <p:cNvPr id="11" name="Down Arrow 10"/>
          <p:cNvSpPr/>
          <p:nvPr/>
        </p:nvSpPr>
        <p:spPr>
          <a:xfrm>
            <a:off x="1645920" y="3931920"/>
            <a:ext cx="365760" cy="457200"/>
          </a:xfrm>
          <a:prstGeom prst="down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194560" y="4389120"/>
            <a:ext cx="2743200" cy="4572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Calibri"/>
              </a:defRPr>
            </a:pPr>
            <a:r>
              <a:t>Click 'base' here</a:t>
            </a:r>
          </a:p>
        </p:txBody>
      </p:sp>
      <p:sp>
        <p:nvSpPr>
          <p:cNvPr id="13" name="TextBox 12"/>
          <p:cNvSpPr txBox="1"/>
          <p:nvPr/>
        </p:nvSpPr>
        <p:spPr>
          <a:xfrm>
            <a:off x="1371600" y="5577840"/>
            <a:ext cx="6400800" cy="274320"/>
          </a:xfrm>
          <a:prstGeom prst="rect">
            <a:avLst/>
          </a:prstGeom>
          <a:noFill/>
        </p:spPr>
        <p:txBody>
          <a:bodyPr wrap="square">
            <a:spAutoFit/>
          </a:bodyPr>
          <a:lstStyle/>
          <a:p>
            <a:pPr algn="l">
              <a:defRPr sz="1100" b="1">
                <a:solidFill>
                  <a:srgbClr val="0F3C6B"/>
                </a:solidFill>
                <a:latin typeface="Calibri"/>
              </a:defRPr>
            </a:pPr>
            <a:r>
              <a:t>Then click: Download R-4.6.4 for Windows (approx 80 MB)</a:t>
            </a:r>
          </a:p>
        </p:txBody>
      </p:sp>
      <p:sp>
        <p:nvSpPr>
          <p:cNvPr id="14" name="Rectangle 13"/>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5" name="TextBox 14"/>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Installing R on Windows – Steps 1–3</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Welcome, License, and Destination Folder</a:t>
            </a:r>
          </a:p>
        </p:txBody>
      </p:sp>
      <p:sp>
        <p:nvSpPr>
          <p:cNvPr id="5" name="Oval 4"/>
          <p:cNvSpPr/>
          <p:nvPr/>
        </p:nvSpPr>
        <p:spPr>
          <a:xfrm>
            <a:off x="640080" y="13716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371600"/>
            <a:ext cx="5029200" cy="274320"/>
          </a:xfrm>
          <a:prstGeom prst="rect">
            <a:avLst/>
          </a:prstGeom>
          <a:noFill/>
        </p:spPr>
        <p:txBody>
          <a:bodyPr wrap="square">
            <a:spAutoFit/>
          </a:bodyPr>
          <a:lstStyle/>
          <a:p>
            <a:pPr algn="l">
              <a:defRPr sz="1400" b="1">
                <a:solidFill>
                  <a:srgbClr val="0F3C6B"/>
                </a:solidFill>
                <a:latin typeface="Calibri"/>
              </a:defRPr>
            </a:pPr>
            <a:r>
              <a:t>Step 1: Run the Installer</a:t>
            </a:r>
          </a:p>
        </p:txBody>
      </p:sp>
      <p:sp>
        <p:nvSpPr>
          <p:cNvPr id="7" name="TextBox 6"/>
          <p:cNvSpPr txBox="1"/>
          <p:nvPr/>
        </p:nvSpPr>
        <p:spPr>
          <a:xfrm>
            <a:off x="1188720" y="1664208"/>
            <a:ext cx="6858000" cy="548640"/>
          </a:xfrm>
          <a:prstGeom prst="rect">
            <a:avLst/>
          </a:prstGeom>
          <a:noFill/>
        </p:spPr>
        <p:txBody>
          <a:bodyPr wrap="square">
            <a:spAutoFit/>
          </a:bodyPr>
          <a:lstStyle/>
          <a:p>
            <a:pPr algn="l">
              <a:defRPr sz="1100" b="0">
                <a:solidFill>
                  <a:srgbClr val="4A4A4A"/>
                </a:solidFill>
                <a:latin typeface="Calibri Light"/>
              </a:defRPr>
            </a:pPr>
            <a:r>
              <a:t>Locate the downloaded R-4.6.4-win.exe file (usually in Downloads) and double‑click it. If Windows asks for permission, click Yes.</a:t>
            </a:r>
          </a:p>
        </p:txBody>
      </p:sp>
      <p:sp>
        <p:nvSpPr>
          <p:cNvPr id="8" name="Rounded Rectangle 7"/>
          <p:cNvSpPr/>
          <p:nvPr/>
        </p:nvSpPr>
        <p:spPr>
          <a:xfrm>
            <a:off x="8686800" y="1463040"/>
            <a:ext cx="2286000" cy="45720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1536192"/>
            <a:ext cx="2103120" cy="320040"/>
          </a:xfrm>
          <a:prstGeom prst="rect">
            <a:avLst/>
          </a:prstGeom>
          <a:noFill/>
        </p:spPr>
        <p:txBody>
          <a:bodyPr wrap="square">
            <a:spAutoFit/>
          </a:bodyPr>
          <a:lstStyle/>
          <a:p>
            <a:pPr algn="l">
              <a:defRPr sz="1000" b="1">
                <a:solidFill>
                  <a:srgbClr val="FFFFFF"/>
                </a:solidFill>
                <a:latin typeface="Calibri"/>
              </a:defRPr>
            </a:pPr>
            <a:r>
              <a:t>🟢 Run</a:t>
            </a:r>
          </a:p>
        </p:txBody>
      </p:sp>
      <p:sp>
        <p:nvSpPr>
          <p:cNvPr id="10" name="Oval 9"/>
          <p:cNvSpPr/>
          <p:nvPr/>
        </p:nvSpPr>
        <p:spPr>
          <a:xfrm>
            <a:off x="640080" y="237744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2</a:t>
            </a:r>
          </a:p>
        </p:txBody>
      </p:sp>
      <p:sp>
        <p:nvSpPr>
          <p:cNvPr id="11" name="TextBox 10"/>
          <p:cNvSpPr txBox="1"/>
          <p:nvPr/>
        </p:nvSpPr>
        <p:spPr>
          <a:xfrm>
            <a:off x="1188720" y="2377440"/>
            <a:ext cx="5029200" cy="274320"/>
          </a:xfrm>
          <a:prstGeom prst="rect">
            <a:avLst/>
          </a:prstGeom>
          <a:noFill/>
        </p:spPr>
        <p:txBody>
          <a:bodyPr wrap="square">
            <a:spAutoFit/>
          </a:bodyPr>
          <a:lstStyle/>
          <a:p>
            <a:pPr algn="l">
              <a:defRPr sz="1400" b="1">
                <a:solidFill>
                  <a:srgbClr val="0F3C6B"/>
                </a:solidFill>
                <a:latin typeface="Calibri"/>
              </a:defRPr>
            </a:pPr>
            <a:r>
              <a:t>Step 2: Welcome Screen</a:t>
            </a:r>
          </a:p>
        </p:txBody>
      </p:sp>
      <p:sp>
        <p:nvSpPr>
          <p:cNvPr id="12" name="TextBox 11"/>
          <p:cNvSpPr txBox="1"/>
          <p:nvPr/>
        </p:nvSpPr>
        <p:spPr>
          <a:xfrm>
            <a:off x="1188720" y="2670048"/>
            <a:ext cx="6858000" cy="548640"/>
          </a:xfrm>
          <a:prstGeom prst="rect">
            <a:avLst/>
          </a:prstGeom>
          <a:noFill/>
        </p:spPr>
        <p:txBody>
          <a:bodyPr wrap="square">
            <a:spAutoFit/>
          </a:bodyPr>
          <a:lstStyle/>
          <a:p>
            <a:pPr algn="l">
              <a:defRPr sz="1100" b="0">
                <a:solidFill>
                  <a:srgbClr val="4A4A4A"/>
                </a:solidFill>
                <a:latin typeface="Calibri Light"/>
              </a:defRPr>
            </a:pPr>
            <a:r>
              <a:t>Click 'Next' on the welcome screen. Read the information if you wish.</a:t>
            </a:r>
          </a:p>
        </p:txBody>
      </p:sp>
      <p:sp>
        <p:nvSpPr>
          <p:cNvPr id="13" name="Rounded Rectangle 12"/>
          <p:cNvSpPr/>
          <p:nvPr/>
        </p:nvSpPr>
        <p:spPr>
          <a:xfrm>
            <a:off x="8686800" y="2468880"/>
            <a:ext cx="2286000" cy="45720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2542032"/>
            <a:ext cx="2103120" cy="320040"/>
          </a:xfrm>
          <a:prstGeom prst="rect">
            <a:avLst/>
          </a:prstGeom>
          <a:noFill/>
        </p:spPr>
        <p:txBody>
          <a:bodyPr wrap="square">
            <a:spAutoFit/>
          </a:bodyPr>
          <a:lstStyle/>
          <a:p>
            <a:pPr algn="l">
              <a:defRPr sz="1000" b="1">
                <a:solidFill>
                  <a:srgbClr val="FFFFFF"/>
                </a:solidFill>
                <a:latin typeface="Calibri"/>
              </a:defRPr>
            </a:pPr>
            <a:r>
              <a:t>Next →</a:t>
            </a:r>
          </a:p>
        </p:txBody>
      </p:sp>
      <p:sp>
        <p:nvSpPr>
          <p:cNvPr id="15" name="Oval 14"/>
          <p:cNvSpPr/>
          <p:nvPr/>
        </p:nvSpPr>
        <p:spPr>
          <a:xfrm>
            <a:off x="640080" y="338328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3</a:t>
            </a:r>
          </a:p>
        </p:txBody>
      </p:sp>
      <p:sp>
        <p:nvSpPr>
          <p:cNvPr id="16" name="TextBox 15"/>
          <p:cNvSpPr txBox="1"/>
          <p:nvPr/>
        </p:nvSpPr>
        <p:spPr>
          <a:xfrm>
            <a:off x="1188720" y="3383280"/>
            <a:ext cx="5029200" cy="274320"/>
          </a:xfrm>
          <a:prstGeom prst="rect">
            <a:avLst/>
          </a:prstGeom>
          <a:noFill/>
        </p:spPr>
        <p:txBody>
          <a:bodyPr wrap="square">
            <a:spAutoFit/>
          </a:bodyPr>
          <a:lstStyle/>
          <a:p>
            <a:pPr algn="l">
              <a:defRPr sz="1400" b="1">
                <a:solidFill>
                  <a:srgbClr val="0F3C6B"/>
                </a:solidFill>
                <a:latin typeface="Calibri"/>
              </a:defRPr>
            </a:pPr>
            <a:r>
              <a:t>Step 3: License Agreement</a:t>
            </a:r>
          </a:p>
        </p:txBody>
      </p:sp>
      <p:sp>
        <p:nvSpPr>
          <p:cNvPr id="17" name="TextBox 16"/>
          <p:cNvSpPr txBox="1"/>
          <p:nvPr/>
        </p:nvSpPr>
        <p:spPr>
          <a:xfrm>
            <a:off x="1188720" y="3675888"/>
            <a:ext cx="6858000" cy="548640"/>
          </a:xfrm>
          <a:prstGeom prst="rect">
            <a:avLst/>
          </a:prstGeom>
          <a:noFill/>
        </p:spPr>
        <p:txBody>
          <a:bodyPr wrap="square">
            <a:spAutoFit/>
          </a:bodyPr>
          <a:lstStyle/>
          <a:p>
            <a:pPr algn="l">
              <a:defRPr sz="1100" b="0">
                <a:solidFill>
                  <a:srgbClr val="4A4A4A"/>
                </a:solidFill>
                <a:latin typeface="Calibri Light"/>
              </a:defRPr>
            </a:pPr>
            <a:r>
              <a:t>Read the GNU General Public License (GPL). This is an open‑source license. Click 'Next' to accept.</a:t>
            </a:r>
          </a:p>
        </p:txBody>
      </p:sp>
      <p:sp>
        <p:nvSpPr>
          <p:cNvPr id="18" name="Rounded Rectangle 17"/>
          <p:cNvSpPr/>
          <p:nvPr/>
        </p:nvSpPr>
        <p:spPr>
          <a:xfrm>
            <a:off x="8686800" y="3474720"/>
            <a:ext cx="2286000" cy="45720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0" y="3547872"/>
            <a:ext cx="2103120" cy="320040"/>
          </a:xfrm>
          <a:prstGeom prst="rect">
            <a:avLst/>
          </a:prstGeom>
          <a:noFill/>
        </p:spPr>
        <p:txBody>
          <a:bodyPr wrap="square">
            <a:spAutoFit/>
          </a:bodyPr>
          <a:lstStyle/>
          <a:p>
            <a:pPr algn="l">
              <a:defRPr sz="1000" b="1">
                <a:solidFill>
                  <a:srgbClr val="FFFFFF"/>
                </a:solidFill>
                <a:latin typeface="Calibri"/>
              </a:defRPr>
            </a:pPr>
            <a:r>
              <a:t>Next →</a:t>
            </a:r>
          </a:p>
        </p:txBody>
      </p:sp>
      <p:sp>
        <p:nvSpPr>
          <p:cNvPr id="20" name="Rectangle 19"/>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1" name="TextBox 20"/>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Installing R on Windows – Steps 4–6</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Select components and finish installation</a:t>
            </a:r>
          </a:p>
        </p:txBody>
      </p:sp>
      <p:sp>
        <p:nvSpPr>
          <p:cNvPr id="5" name="Oval 4"/>
          <p:cNvSpPr/>
          <p:nvPr/>
        </p:nvSpPr>
        <p:spPr>
          <a:xfrm>
            <a:off x="640080" y="13716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4</a:t>
            </a:r>
          </a:p>
        </p:txBody>
      </p:sp>
      <p:sp>
        <p:nvSpPr>
          <p:cNvPr id="6" name="TextBox 5"/>
          <p:cNvSpPr txBox="1"/>
          <p:nvPr/>
        </p:nvSpPr>
        <p:spPr>
          <a:xfrm>
            <a:off x="1188720" y="1371600"/>
            <a:ext cx="5029200" cy="274320"/>
          </a:xfrm>
          <a:prstGeom prst="rect">
            <a:avLst/>
          </a:prstGeom>
          <a:noFill/>
        </p:spPr>
        <p:txBody>
          <a:bodyPr wrap="square">
            <a:spAutoFit/>
          </a:bodyPr>
          <a:lstStyle/>
          <a:p>
            <a:pPr algn="l">
              <a:defRPr sz="1400" b="1">
                <a:solidFill>
                  <a:srgbClr val="0F3C6B"/>
                </a:solidFill>
                <a:latin typeface="Calibri"/>
              </a:defRPr>
            </a:pPr>
            <a:r>
              <a:t>Step 4: Select Components</a:t>
            </a:r>
          </a:p>
        </p:txBody>
      </p:sp>
      <p:sp>
        <p:nvSpPr>
          <p:cNvPr id="7" name="TextBox 6"/>
          <p:cNvSpPr txBox="1"/>
          <p:nvPr/>
        </p:nvSpPr>
        <p:spPr>
          <a:xfrm>
            <a:off x="1188720" y="1664208"/>
            <a:ext cx="6858000" cy="548640"/>
          </a:xfrm>
          <a:prstGeom prst="rect">
            <a:avLst/>
          </a:prstGeom>
          <a:noFill/>
        </p:spPr>
        <p:txBody>
          <a:bodyPr wrap="square">
            <a:spAutoFit/>
          </a:bodyPr>
          <a:lstStyle/>
          <a:p>
            <a:pPr algn="l">
              <a:defRPr sz="1100" b="0">
                <a:solidFill>
                  <a:srgbClr val="4A4A4A"/>
                </a:solidFill>
                <a:latin typeface="Calibri Light"/>
              </a:defRPr>
            </a:pPr>
            <a:r>
              <a:t>Keep the default components checked: Core files, 64‑bit User installation. Uncheck '32‑bit Files' if you don't need them (modern computers are 64‑bit).</a:t>
            </a:r>
          </a:p>
        </p:txBody>
      </p:sp>
      <p:sp>
        <p:nvSpPr>
          <p:cNvPr id="8" name="Rounded Rectangle 7"/>
          <p:cNvSpPr/>
          <p:nvPr/>
        </p:nvSpPr>
        <p:spPr>
          <a:xfrm>
            <a:off x="8686800" y="1463040"/>
            <a:ext cx="2560320" cy="45720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1536192"/>
            <a:ext cx="2377440" cy="320040"/>
          </a:xfrm>
          <a:prstGeom prst="rect">
            <a:avLst/>
          </a:prstGeom>
          <a:noFill/>
        </p:spPr>
        <p:txBody>
          <a:bodyPr wrap="square">
            <a:spAutoFit/>
          </a:bodyPr>
          <a:lstStyle/>
          <a:p>
            <a:pPr algn="l">
              <a:defRPr sz="1000" b="1">
                <a:solidFill>
                  <a:srgbClr val="FFFFFF"/>
                </a:solidFill>
                <a:latin typeface="Calibri"/>
              </a:defRPr>
            </a:pPr>
            <a:r>
              <a:t>Keep defaults ✓</a:t>
            </a:r>
          </a:p>
        </p:txBody>
      </p:sp>
      <p:sp>
        <p:nvSpPr>
          <p:cNvPr id="10" name="Oval 9"/>
          <p:cNvSpPr/>
          <p:nvPr/>
        </p:nvSpPr>
        <p:spPr>
          <a:xfrm>
            <a:off x="640080" y="237744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5</a:t>
            </a:r>
          </a:p>
        </p:txBody>
      </p:sp>
      <p:sp>
        <p:nvSpPr>
          <p:cNvPr id="11" name="TextBox 10"/>
          <p:cNvSpPr txBox="1"/>
          <p:nvPr/>
        </p:nvSpPr>
        <p:spPr>
          <a:xfrm>
            <a:off x="1188720" y="2377440"/>
            <a:ext cx="5029200" cy="274320"/>
          </a:xfrm>
          <a:prstGeom prst="rect">
            <a:avLst/>
          </a:prstGeom>
          <a:noFill/>
        </p:spPr>
        <p:txBody>
          <a:bodyPr wrap="square">
            <a:spAutoFit/>
          </a:bodyPr>
          <a:lstStyle/>
          <a:p>
            <a:pPr algn="l">
              <a:defRPr sz="1400" b="1">
                <a:solidFill>
                  <a:srgbClr val="0F3C6B"/>
                </a:solidFill>
                <a:latin typeface="Calibri"/>
              </a:defRPr>
            </a:pPr>
            <a:r>
              <a:t>Step 5: Startup Options</a:t>
            </a:r>
          </a:p>
        </p:txBody>
      </p:sp>
      <p:sp>
        <p:nvSpPr>
          <p:cNvPr id="12" name="TextBox 11"/>
          <p:cNvSpPr txBox="1"/>
          <p:nvPr/>
        </p:nvSpPr>
        <p:spPr>
          <a:xfrm>
            <a:off x="1188720" y="2670048"/>
            <a:ext cx="6858000" cy="548640"/>
          </a:xfrm>
          <a:prstGeom prst="rect">
            <a:avLst/>
          </a:prstGeom>
          <a:noFill/>
        </p:spPr>
        <p:txBody>
          <a:bodyPr wrap="square">
            <a:spAutoFit/>
          </a:bodyPr>
          <a:lstStyle/>
          <a:p>
            <a:pPr algn="l">
              <a:defRPr sz="1100" b="0">
                <a:solidFill>
                  <a:srgbClr val="4A4A4A"/>
                </a:solidFill>
                <a:latin typeface="Calibri Light"/>
              </a:defRPr>
            </a:pPr>
            <a:r>
              <a:t>Accept the defaults: 'Yes (customized startup)'. This sets up R's console behaviour. No need to change.</a:t>
            </a:r>
          </a:p>
        </p:txBody>
      </p:sp>
      <p:sp>
        <p:nvSpPr>
          <p:cNvPr id="13" name="Rounded Rectangle 12"/>
          <p:cNvSpPr/>
          <p:nvPr/>
        </p:nvSpPr>
        <p:spPr>
          <a:xfrm>
            <a:off x="8686800" y="2468880"/>
            <a:ext cx="2560320" cy="45720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2542032"/>
            <a:ext cx="2377440" cy="320040"/>
          </a:xfrm>
          <a:prstGeom prst="rect">
            <a:avLst/>
          </a:prstGeom>
          <a:noFill/>
        </p:spPr>
        <p:txBody>
          <a:bodyPr wrap="square">
            <a:spAutoFit/>
          </a:bodyPr>
          <a:lstStyle/>
          <a:p>
            <a:pPr algn="l">
              <a:defRPr sz="1000" b="1">
                <a:solidFill>
                  <a:srgbClr val="FFFFFF"/>
                </a:solidFill>
                <a:latin typeface="Calibri"/>
              </a:defRPr>
            </a:pPr>
            <a:r>
              <a:t>Next →</a:t>
            </a:r>
          </a:p>
        </p:txBody>
      </p:sp>
      <p:sp>
        <p:nvSpPr>
          <p:cNvPr id="15" name="Oval 14"/>
          <p:cNvSpPr/>
          <p:nvPr/>
        </p:nvSpPr>
        <p:spPr>
          <a:xfrm>
            <a:off x="640080" y="338328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6</a:t>
            </a:r>
          </a:p>
        </p:txBody>
      </p:sp>
      <p:sp>
        <p:nvSpPr>
          <p:cNvPr id="16" name="TextBox 15"/>
          <p:cNvSpPr txBox="1"/>
          <p:nvPr/>
        </p:nvSpPr>
        <p:spPr>
          <a:xfrm>
            <a:off x="1188720" y="3383280"/>
            <a:ext cx="5029200" cy="274320"/>
          </a:xfrm>
          <a:prstGeom prst="rect">
            <a:avLst/>
          </a:prstGeom>
          <a:noFill/>
        </p:spPr>
        <p:txBody>
          <a:bodyPr wrap="square">
            <a:spAutoFit/>
          </a:bodyPr>
          <a:lstStyle/>
          <a:p>
            <a:pPr algn="l">
              <a:defRPr sz="1400" b="1">
                <a:solidFill>
                  <a:srgbClr val="0F3C6B"/>
                </a:solidFill>
                <a:latin typeface="Calibri"/>
              </a:defRPr>
            </a:pPr>
            <a:r>
              <a:t>Step 6: Additional Tasks</a:t>
            </a:r>
          </a:p>
        </p:txBody>
      </p:sp>
      <p:sp>
        <p:nvSpPr>
          <p:cNvPr id="17" name="TextBox 16"/>
          <p:cNvSpPr txBox="1"/>
          <p:nvPr/>
        </p:nvSpPr>
        <p:spPr>
          <a:xfrm>
            <a:off x="1188720" y="3675888"/>
            <a:ext cx="6858000" cy="548640"/>
          </a:xfrm>
          <a:prstGeom prst="rect">
            <a:avLst/>
          </a:prstGeom>
          <a:noFill/>
        </p:spPr>
        <p:txBody>
          <a:bodyPr wrap="square">
            <a:spAutoFit/>
          </a:bodyPr>
          <a:lstStyle/>
          <a:p>
            <a:pPr algn="l">
              <a:defRPr sz="1100" b="0">
                <a:solidFill>
                  <a:srgbClr val="4A4A4A"/>
                </a:solidFill>
                <a:latin typeface="Calibri Light"/>
              </a:defRPr>
            </a:pPr>
            <a:r>
              <a:t>Tick 'Create a desktop shortcut' and 'Register R's path'. This makes launching R easier later.</a:t>
            </a:r>
          </a:p>
        </p:txBody>
      </p:sp>
      <p:sp>
        <p:nvSpPr>
          <p:cNvPr id="18" name="Rounded Rectangle 17"/>
          <p:cNvSpPr/>
          <p:nvPr/>
        </p:nvSpPr>
        <p:spPr>
          <a:xfrm>
            <a:off x="8686800" y="3474720"/>
            <a:ext cx="2560320" cy="45720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0" y="3547872"/>
            <a:ext cx="2377440" cy="320040"/>
          </a:xfrm>
          <a:prstGeom prst="rect">
            <a:avLst/>
          </a:prstGeom>
          <a:noFill/>
        </p:spPr>
        <p:txBody>
          <a:bodyPr wrap="square">
            <a:spAutoFit/>
          </a:bodyPr>
          <a:lstStyle/>
          <a:p>
            <a:pPr algn="l">
              <a:defRPr sz="1000" b="1">
                <a:solidFill>
                  <a:srgbClr val="FFFFFF"/>
                </a:solidFill>
                <a:latin typeface="Calibri"/>
              </a:defRPr>
            </a:pPr>
            <a:r>
              <a:t>✓ Desktop shortcut</a:t>
            </a:r>
          </a:p>
        </p:txBody>
      </p:sp>
      <p:sp>
        <p:nvSpPr>
          <p:cNvPr id="20" name="Oval 19"/>
          <p:cNvSpPr/>
          <p:nvPr/>
        </p:nvSpPr>
        <p:spPr>
          <a:xfrm>
            <a:off x="640080" y="438912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7</a:t>
            </a:r>
          </a:p>
        </p:txBody>
      </p:sp>
      <p:sp>
        <p:nvSpPr>
          <p:cNvPr id="21" name="TextBox 20"/>
          <p:cNvSpPr txBox="1"/>
          <p:nvPr/>
        </p:nvSpPr>
        <p:spPr>
          <a:xfrm>
            <a:off x="1188720" y="4389120"/>
            <a:ext cx="5029200" cy="274320"/>
          </a:xfrm>
          <a:prstGeom prst="rect">
            <a:avLst/>
          </a:prstGeom>
          <a:noFill/>
        </p:spPr>
        <p:txBody>
          <a:bodyPr wrap="square">
            <a:spAutoFit/>
          </a:bodyPr>
          <a:lstStyle/>
          <a:p>
            <a:pPr algn="l">
              <a:defRPr sz="1400" b="1">
                <a:solidFill>
                  <a:srgbClr val="0F3C6B"/>
                </a:solidFill>
                <a:latin typeface="Calibri"/>
              </a:defRPr>
            </a:pPr>
            <a:r>
              <a:t>Step 7: Installing...</a:t>
            </a:r>
          </a:p>
        </p:txBody>
      </p:sp>
      <p:sp>
        <p:nvSpPr>
          <p:cNvPr id="22" name="TextBox 21"/>
          <p:cNvSpPr txBox="1"/>
          <p:nvPr/>
        </p:nvSpPr>
        <p:spPr>
          <a:xfrm>
            <a:off x="1188720" y="4681728"/>
            <a:ext cx="6858000" cy="548640"/>
          </a:xfrm>
          <a:prstGeom prst="rect">
            <a:avLst/>
          </a:prstGeom>
          <a:noFill/>
        </p:spPr>
        <p:txBody>
          <a:bodyPr wrap="square">
            <a:spAutoFit/>
          </a:bodyPr>
          <a:lstStyle/>
          <a:p>
            <a:pPr algn="l">
              <a:defRPr sz="1100" b="0">
                <a:solidFill>
                  <a:srgbClr val="4A4A4A"/>
                </a:solidFill>
                <a:latin typeface="Calibri Light"/>
              </a:defRPr>
            </a:pPr>
            <a:r>
              <a:t>Click 'Next' to begin installation. A progress bar appears. Wait for the green completion screen, then click 'Finish'.</a:t>
            </a:r>
          </a:p>
        </p:txBody>
      </p:sp>
      <p:sp>
        <p:nvSpPr>
          <p:cNvPr id="23" name="Rounded Rectangle 22"/>
          <p:cNvSpPr/>
          <p:nvPr/>
        </p:nvSpPr>
        <p:spPr>
          <a:xfrm>
            <a:off x="8686800" y="4480560"/>
            <a:ext cx="2560320" cy="457200"/>
          </a:xfrm>
          <a:prstGeom prst="round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0" y="4553712"/>
            <a:ext cx="2377440" cy="320040"/>
          </a:xfrm>
          <a:prstGeom prst="rect">
            <a:avLst/>
          </a:prstGeom>
          <a:noFill/>
        </p:spPr>
        <p:txBody>
          <a:bodyPr wrap="square">
            <a:spAutoFit/>
          </a:bodyPr>
          <a:lstStyle/>
          <a:p>
            <a:pPr algn="l">
              <a:defRPr sz="1000" b="1">
                <a:solidFill>
                  <a:srgbClr val="FFFFFF"/>
                </a:solidFill>
                <a:latin typeface="Calibri"/>
              </a:defRPr>
            </a:pPr>
            <a:r>
              <a:t>Finish ✓</a:t>
            </a:r>
          </a:p>
        </p:txBody>
      </p:sp>
      <p:sp>
        <p:nvSpPr>
          <p:cNvPr id="25" name="Rectangle 24"/>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6" name="TextBox 25"/>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Downloading RStudio (Posit) on Windows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Get the free desktop IDE</a:t>
            </a:r>
          </a:p>
        </p:txBody>
      </p:sp>
      <p:sp>
        <p:nvSpPr>
          <p:cNvPr id="5" name="Oval 4"/>
          <p:cNvSpPr/>
          <p:nvPr/>
        </p:nvSpPr>
        <p:spPr>
          <a:xfrm>
            <a:off x="640080" y="146304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463040"/>
            <a:ext cx="5486400" cy="365760"/>
          </a:xfrm>
          <a:prstGeom prst="rect">
            <a:avLst/>
          </a:prstGeom>
          <a:noFill/>
        </p:spPr>
        <p:txBody>
          <a:bodyPr wrap="square">
            <a:spAutoFit/>
          </a:bodyPr>
          <a:lstStyle/>
          <a:p>
            <a:pPr algn="l">
              <a:defRPr sz="2000" b="1">
                <a:solidFill>
                  <a:srgbClr val="0F3C6B"/>
                </a:solidFill>
                <a:latin typeface="Calibri"/>
              </a:defRPr>
            </a:pPr>
            <a:r>
              <a:t>Visit the official Posit website</a:t>
            </a:r>
          </a:p>
        </p:txBody>
      </p:sp>
      <p:sp>
        <p:nvSpPr>
          <p:cNvPr id="7" name="TextBox 6"/>
          <p:cNvSpPr txBox="1"/>
          <p:nvPr/>
        </p:nvSpPr>
        <p:spPr>
          <a:xfrm>
            <a:off x="1188720" y="1874519"/>
            <a:ext cx="5486400" cy="457200"/>
          </a:xfrm>
          <a:prstGeom prst="rect">
            <a:avLst/>
          </a:prstGeom>
          <a:noFill/>
        </p:spPr>
        <p:txBody>
          <a:bodyPr wrap="square">
            <a:spAutoFit/>
          </a:bodyPr>
          <a:lstStyle/>
          <a:p>
            <a:pPr algn="l">
              <a:defRPr sz="1300" b="0">
                <a:solidFill>
                  <a:srgbClr val="4A4A4A"/>
                </a:solidFill>
                <a:latin typeface="Calibri"/>
              </a:defRPr>
            </a:pPr>
            <a:r>
              <a:t>Go to https://posit.co/download/rstudio-desktop/ and click the 'Download RStudio Desktop' button.</a:t>
            </a:r>
          </a:p>
        </p:txBody>
      </p:sp>
      <p:sp>
        <p:nvSpPr>
          <p:cNvPr id="8" name="Rounded Rectangle 7"/>
          <p:cNvSpPr/>
          <p:nvPr/>
        </p:nvSpPr>
        <p:spPr>
          <a:xfrm>
            <a:off x="1188720" y="2468880"/>
            <a:ext cx="6858000" cy="32004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88720" y="2468880"/>
            <a:ext cx="6858000" cy="320040"/>
          </a:xfrm>
          <a:prstGeom prst="rect">
            <a:avLst/>
          </a:prstGeom>
          <a:solidFill>
            <a:srgbClr val="DE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25880" y="2542032"/>
            <a:ext cx="109728" cy="109728"/>
          </a:xfrm>
          <a:prstGeom prst="ellipse">
            <a:avLst/>
          </a:prstGeom>
          <a:solidFill>
            <a:srgbClr val="DB4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508760" y="2542032"/>
            <a:ext cx="109728" cy="109728"/>
          </a:xfrm>
          <a:prstGeom prst="ellipse">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691640" y="2542032"/>
            <a:ext cx="109728" cy="109728"/>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20240" y="2514600"/>
            <a:ext cx="5943600" cy="228600"/>
          </a:xfrm>
          <a:prstGeom prst="rect">
            <a:avLst/>
          </a:prstGeom>
          <a:noFill/>
        </p:spPr>
        <p:txBody>
          <a:bodyPr wrap="square">
            <a:spAutoFit/>
          </a:bodyPr>
          <a:lstStyle/>
          <a:p>
            <a:pPr algn="l">
              <a:defRPr sz="900" b="0">
                <a:solidFill>
                  <a:srgbClr val="4A4A4A"/>
                </a:solidFill>
                <a:latin typeface="Calibri"/>
              </a:defRPr>
            </a:pPr>
            <a:r>
              <a:t>Posit | Download RStudio Desktop</a:t>
            </a:r>
          </a:p>
        </p:txBody>
      </p:sp>
      <p:sp>
        <p:nvSpPr>
          <p:cNvPr id="14" name="Rounded Rectangle 13"/>
          <p:cNvSpPr/>
          <p:nvPr/>
        </p:nvSpPr>
        <p:spPr>
          <a:xfrm>
            <a:off x="1280160" y="2852928"/>
            <a:ext cx="6675120" cy="256032"/>
          </a:xfrm>
          <a:prstGeom prst="roundRect">
            <a:avLst/>
          </a:prstGeom>
          <a:solidFill>
            <a:srgbClr val="F5F6F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2871216"/>
            <a:ext cx="6492240" cy="219456"/>
          </a:xfrm>
          <a:prstGeom prst="rect">
            <a:avLst/>
          </a:prstGeom>
          <a:noFill/>
        </p:spPr>
        <p:txBody>
          <a:bodyPr wrap="square">
            <a:spAutoFit/>
          </a:bodyPr>
          <a:lstStyle/>
          <a:p>
            <a:pPr algn="l">
              <a:defRPr sz="800" b="0">
                <a:solidFill>
                  <a:srgbClr val="4A4A4A"/>
                </a:solidFill>
                <a:latin typeface="Calibri"/>
              </a:defRPr>
            </a:pPr>
            <a:r>
              <a:t>https://posit.co/download/rstudio-desktop/</a:t>
            </a:r>
          </a:p>
        </p:txBody>
      </p:sp>
      <p:sp>
        <p:nvSpPr>
          <p:cNvPr id="16" name="TextBox 15"/>
          <p:cNvSpPr txBox="1"/>
          <p:nvPr/>
        </p:nvSpPr>
        <p:spPr>
          <a:xfrm>
            <a:off x="1325880" y="3200400"/>
            <a:ext cx="6583680" cy="2331720"/>
          </a:xfrm>
          <a:prstGeom prst="rect">
            <a:avLst/>
          </a:prstGeom>
          <a:noFill/>
        </p:spPr>
        <p:txBody>
          <a:bodyPr wrap="square">
            <a:spAutoFit/>
          </a:bodyPr>
          <a:lstStyle/>
          <a:p>
            <a:pPr algn="l">
              <a:defRPr sz="900" b="0">
                <a:solidFill>
                  <a:srgbClr val="1A1A1A"/>
                </a:solidFill>
                <a:latin typeface="Calibri"/>
              </a:defRPr>
            </a:pPr>
            <a:r>
              <a:t>RStudio Desktop</a:t>
            </a:r>
            <a:br/>
            <a:r>
              <a:t>Open Source Edition</a:t>
            </a:r>
            <a:br/>
            <a:br/>
            <a:r>
              <a:t>┌─────────────────────────────────────┐</a:t>
            </a:r>
            <a:br/>
            <a:r>
              <a:t>│ RStudio 2024.12.0+467              │</a:t>
            </a:r>
            <a:br/>
            <a:r>
              <a:t>│ Free • Open Source                 │</a:t>
            </a:r>
            <a:br/>
            <a:r>
              <a:t>│                                    │</a:t>
            </a:r>
            <a:br/>
            <a:r>
              <a:t>│ [⬇ DOWNLOAD RSTUDIO DESKTOP]       │</a:t>
            </a:r>
            <a:br/>
            <a:r>
              <a:t>│    for Windows 10/11               │</a:t>
            </a:r>
            <a:br/>
            <a:r>
              <a:t>└─────────────────────────────────────┘</a:t>
            </a:r>
            <a:br/>
            <a:br/>
            <a:r>
              <a:t>Also available for macOS and Linux.</a:t>
            </a:r>
          </a:p>
        </p:txBody>
      </p:sp>
      <p:sp>
        <p:nvSpPr>
          <p:cNvPr id="17" name="Rounded Rectangle 16"/>
          <p:cNvSpPr/>
          <p:nvPr/>
        </p:nvSpPr>
        <p:spPr>
          <a:xfrm>
            <a:off x="8412480" y="2468880"/>
            <a:ext cx="320040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Click the orange</a:t>
            </a:r>
            <a:br/>
            <a:r>
              <a:t>'Download' button</a:t>
            </a:r>
          </a:p>
        </p:txBody>
      </p:sp>
      <p:sp>
        <p:nvSpPr>
          <p:cNvPr id="18" name="Down Arrow 17"/>
          <p:cNvSpPr/>
          <p:nvPr/>
        </p:nvSpPr>
        <p:spPr>
          <a:xfrm>
            <a:off x="8046720" y="3200400"/>
            <a:ext cx="320040" cy="548640"/>
          </a:xfrm>
          <a:prstGeom prst="downArrow">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0" name="TextBox 19"/>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Installing RStudio on Windows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Simple wizard – just a few clicks</a:t>
            </a:r>
          </a:p>
        </p:txBody>
      </p:sp>
      <p:sp>
        <p:nvSpPr>
          <p:cNvPr id="5" name="Oval 4"/>
          <p:cNvSpPr/>
          <p:nvPr/>
        </p:nvSpPr>
        <p:spPr>
          <a:xfrm>
            <a:off x="640080" y="13716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371600"/>
            <a:ext cx="5029200" cy="274320"/>
          </a:xfrm>
          <a:prstGeom prst="rect">
            <a:avLst/>
          </a:prstGeom>
          <a:noFill/>
        </p:spPr>
        <p:txBody>
          <a:bodyPr wrap="square">
            <a:spAutoFit/>
          </a:bodyPr>
          <a:lstStyle/>
          <a:p>
            <a:pPr algn="l">
              <a:defRPr sz="1400" b="1">
                <a:solidFill>
                  <a:srgbClr val="0F3C6B"/>
                </a:solidFill>
                <a:latin typeface="Calibri"/>
              </a:defRPr>
            </a:pPr>
            <a:r>
              <a:t>Step 1: Run the installer</a:t>
            </a:r>
          </a:p>
        </p:txBody>
      </p:sp>
      <p:sp>
        <p:nvSpPr>
          <p:cNvPr id="7" name="TextBox 6"/>
          <p:cNvSpPr txBox="1"/>
          <p:nvPr/>
        </p:nvSpPr>
        <p:spPr>
          <a:xfrm>
            <a:off x="1188720" y="1664208"/>
            <a:ext cx="6858000" cy="502920"/>
          </a:xfrm>
          <a:prstGeom prst="rect">
            <a:avLst/>
          </a:prstGeom>
          <a:noFill/>
        </p:spPr>
        <p:txBody>
          <a:bodyPr wrap="square">
            <a:spAutoFit/>
          </a:bodyPr>
          <a:lstStyle/>
          <a:p>
            <a:pPr algn="l">
              <a:defRPr sz="1100" b="0">
                <a:solidFill>
                  <a:srgbClr val="4A4A4A"/>
                </a:solidFill>
                <a:latin typeface="Calibri Light"/>
              </a:defRPr>
            </a:pPr>
            <a:r>
              <a:t>Double‑click the RStudio .exe file. Click Yes if prompted by User Account Control.</a:t>
            </a:r>
          </a:p>
        </p:txBody>
      </p:sp>
      <p:sp>
        <p:nvSpPr>
          <p:cNvPr id="8" name="Rounded Rectangle 7"/>
          <p:cNvSpPr/>
          <p:nvPr/>
        </p:nvSpPr>
        <p:spPr>
          <a:xfrm>
            <a:off x="8686800" y="1463040"/>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1517904"/>
            <a:ext cx="2103120" cy="274320"/>
          </a:xfrm>
          <a:prstGeom prst="rect">
            <a:avLst/>
          </a:prstGeom>
          <a:noFill/>
        </p:spPr>
        <p:txBody>
          <a:bodyPr wrap="square">
            <a:spAutoFit/>
          </a:bodyPr>
          <a:lstStyle/>
          <a:p>
            <a:pPr algn="l">
              <a:defRPr sz="1000" b="1">
                <a:solidFill>
                  <a:srgbClr val="FFFFFF"/>
                </a:solidFill>
                <a:latin typeface="Calibri"/>
              </a:defRPr>
            </a:pPr>
            <a:r>
              <a:t>Run</a:t>
            </a:r>
          </a:p>
        </p:txBody>
      </p:sp>
      <p:sp>
        <p:nvSpPr>
          <p:cNvPr id="10" name="Oval 9"/>
          <p:cNvSpPr/>
          <p:nvPr/>
        </p:nvSpPr>
        <p:spPr>
          <a:xfrm>
            <a:off x="640080" y="224028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2</a:t>
            </a:r>
          </a:p>
        </p:txBody>
      </p:sp>
      <p:sp>
        <p:nvSpPr>
          <p:cNvPr id="11" name="TextBox 10"/>
          <p:cNvSpPr txBox="1"/>
          <p:nvPr/>
        </p:nvSpPr>
        <p:spPr>
          <a:xfrm>
            <a:off x="1188720" y="2240280"/>
            <a:ext cx="5029200" cy="274320"/>
          </a:xfrm>
          <a:prstGeom prst="rect">
            <a:avLst/>
          </a:prstGeom>
          <a:noFill/>
        </p:spPr>
        <p:txBody>
          <a:bodyPr wrap="square">
            <a:spAutoFit/>
          </a:bodyPr>
          <a:lstStyle/>
          <a:p>
            <a:pPr algn="l">
              <a:defRPr sz="1400" b="1">
                <a:solidFill>
                  <a:srgbClr val="0F3C6B"/>
                </a:solidFill>
                <a:latin typeface="Calibri"/>
              </a:defRPr>
            </a:pPr>
            <a:r>
              <a:t>Step 2: Welcome</a:t>
            </a:r>
          </a:p>
        </p:txBody>
      </p:sp>
      <p:sp>
        <p:nvSpPr>
          <p:cNvPr id="12" name="TextBox 11"/>
          <p:cNvSpPr txBox="1"/>
          <p:nvPr/>
        </p:nvSpPr>
        <p:spPr>
          <a:xfrm>
            <a:off x="1188720" y="2532888"/>
            <a:ext cx="6858000" cy="502920"/>
          </a:xfrm>
          <a:prstGeom prst="rect">
            <a:avLst/>
          </a:prstGeom>
          <a:noFill/>
        </p:spPr>
        <p:txBody>
          <a:bodyPr wrap="square">
            <a:spAutoFit/>
          </a:bodyPr>
          <a:lstStyle/>
          <a:p>
            <a:pPr algn="l">
              <a:defRPr sz="1100" b="0">
                <a:solidFill>
                  <a:srgbClr val="4A4A4A"/>
                </a:solidFill>
                <a:latin typeface="Calibri Light"/>
              </a:defRPr>
            </a:pPr>
            <a:r>
              <a:t>Click 'Next' on the welcome screen.</a:t>
            </a:r>
          </a:p>
        </p:txBody>
      </p:sp>
      <p:sp>
        <p:nvSpPr>
          <p:cNvPr id="13" name="Rounded Rectangle 12"/>
          <p:cNvSpPr/>
          <p:nvPr/>
        </p:nvSpPr>
        <p:spPr>
          <a:xfrm>
            <a:off x="8686800" y="2331720"/>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2386584"/>
            <a:ext cx="2103120" cy="274320"/>
          </a:xfrm>
          <a:prstGeom prst="rect">
            <a:avLst/>
          </a:prstGeom>
          <a:noFill/>
        </p:spPr>
        <p:txBody>
          <a:bodyPr wrap="square">
            <a:spAutoFit/>
          </a:bodyPr>
          <a:lstStyle/>
          <a:p>
            <a:pPr algn="l">
              <a:defRPr sz="1000" b="1">
                <a:solidFill>
                  <a:srgbClr val="FFFFFF"/>
                </a:solidFill>
                <a:latin typeface="Calibri"/>
              </a:defRPr>
            </a:pPr>
            <a:r>
              <a:t>Next →</a:t>
            </a:r>
          </a:p>
        </p:txBody>
      </p:sp>
      <p:sp>
        <p:nvSpPr>
          <p:cNvPr id="15" name="Oval 14"/>
          <p:cNvSpPr/>
          <p:nvPr/>
        </p:nvSpPr>
        <p:spPr>
          <a:xfrm>
            <a:off x="640080" y="310896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3</a:t>
            </a:r>
          </a:p>
        </p:txBody>
      </p:sp>
      <p:sp>
        <p:nvSpPr>
          <p:cNvPr id="16" name="TextBox 15"/>
          <p:cNvSpPr txBox="1"/>
          <p:nvPr/>
        </p:nvSpPr>
        <p:spPr>
          <a:xfrm>
            <a:off x="1188720" y="3108960"/>
            <a:ext cx="5029200" cy="274320"/>
          </a:xfrm>
          <a:prstGeom prst="rect">
            <a:avLst/>
          </a:prstGeom>
          <a:noFill/>
        </p:spPr>
        <p:txBody>
          <a:bodyPr wrap="square">
            <a:spAutoFit/>
          </a:bodyPr>
          <a:lstStyle/>
          <a:p>
            <a:pPr algn="l">
              <a:defRPr sz="1400" b="1">
                <a:solidFill>
                  <a:srgbClr val="0F3C6B"/>
                </a:solidFill>
                <a:latin typeface="Calibri"/>
              </a:defRPr>
            </a:pPr>
            <a:r>
              <a:t>Step 3: Choose Install Location</a:t>
            </a:r>
          </a:p>
        </p:txBody>
      </p:sp>
      <p:sp>
        <p:nvSpPr>
          <p:cNvPr id="17" name="TextBox 16"/>
          <p:cNvSpPr txBox="1"/>
          <p:nvPr/>
        </p:nvSpPr>
        <p:spPr>
          <a:xfrm>
            <a:off x="1188720" y="3401568"/>
            <a:ext cx="6858000" cy="502920"/>
          </a:xfrm>
          <a:prstGeom prst="rect">
            <a:avLst/>
          </a:prstGeom>
          <a:noFill/>
        </p:spPr>
        <p:txBody>
          <a:bodyPr wrap="square">
            <a:spAutoFit/>
          </a:bodyPr>
          <a:lstStyle/>
          <a:p>
            <a:pPr algn="l">
              <a:defRPr sz="1100" b="0">
                <a:solidFill>
                  <a:srgbClr val="4A4A4A"/>
                </a:solidFill>
                <a:latin typeface="Calibri Light"/>
              </a:defRPr>
            </a:pPr>
            <a:r>
              <a:t>Keep the default (C:\Program Files\RStudio). Click 'Next'.</a:t>
            </a:r>
          </a:p>
        </p:txBody>
      </p:sp>
      <p:sp>
        <p:nvSpPr>
          <p:cNvPr id="18" name="Rounded Rectangle 17"/>
          <p:cNvSpPr/>
          <p:nvPr/>
        </p:nvSpPr>
        <p:spPr>
          <a:xfrm>
            <a:off x="8686800" y="3200400"/>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0" y="3255264"/>
            <a:ext cx="2103120" cy="274320"/>
          </a:xfrm>
          <a:prstGeom prst="rect">
            <a:avLst/>
          </a:prstGeom>
          <a:noFill/>
        </p:spPr>
        <p:txBody>
          <a:bodyPr wrap="square">
            <a:spAutoFit/>
          </a:bodyPr>
          <a:lstStyle/>
          <a:p>
            <a:pPr algn="l">
              <a:defRPr sz="1000" b="1">
                <a:solidFill>
                  <a:srgbClr val="FFFFFF"/>
                </a:solidFill>
                <a:latin typeface="Calibri"/>
              </a:defRPr>
            </a:pPr>
            <a:r>
              <a:t>Next →</a:t>
            </a:r>
          </a:p>
        </p:txBody>
      </p:sp>
      <p:sp>
        <p:nvSpPr>
          <p:cNvPr id="20" name="Oval 19"/>
          <p:cNvSpPr/>
          <p:nvPr/>
        </p:nvSpPr>
        <p:spPr>
          <a:xfrm>
            <a:off x="640080" y="3977639"/>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4</a:t>
            </a:r>
          </a:p>
        </p:txBody>
      </p:sp>
      <p:sp>
        <p:nvSpPr>
          <p:cNvPr id="21" name="TextBox 20"/>
          <p:cNvSpPr txBox="1"/>
          <p:nvPr/>
        </p:nvSpPr>
        <p:spPr>
          <a:xfrm>
            <a:off x="1188720" y="3977639"/>
            <a:ext cx="5029200" cy="274320"/>
          </a:xfrm>
          <a:prstGeom prst="rect">
            <a:avLst/>
          </a:prstGeom>
          <a:noFill/>
        </p:spPr>
        <p:txBody>
          <a:bodyPr wrap="square">
            <a:spAutoFit/>
          </a:bodyPr>
          <a:lstStyle/>
          <a:p>
            <a:pPr algn="l">
              <a:defRPr sz="1400" b="1">
                <a:solidFill>
                  <a:srgbClr val="0F3C6B"/>
                </a:solidFill>
                <a:latin typeface="Calibri"/>
              </a:defRPr>
            </a:pPr>
            <a:r>
              <a:t>Step 4: Start Menu Folder</a:t>
            </a:r>
          </a:p>
        </p:txBody>
      </p:sp>
      <p:sp>
        <p:nvSpPr>
          <p:cNvPr id="22" name="TextBox 21"/>
          <p:cNvSpPr txBox="1"/>
          <p:nvPr/>
        </p:nvSpPr>
        <p:spPr>
          <a:xfrm>
            <a:off x="1188720" y="4270248"/>
            <a:ext cx="6858000" cy="502920"/>
          </a:xfrm>
          <a:prstGeom prst="rect">
            <a:avLst/>
          </a:prstGeom>
          <a:noFill/>
        </p:spPr>
        <p:txBody>
          <a:bodyPr wrap="square">
            <a:spAutoFit/>
          </a:bodyPr>
          <a:lstStyle/>
          <a:p>
            <a:pPr algn="l">
              <a:defRPr sz="1100" b="0">
                <a:solidFill>
                  <a:srgbClr val="4A4A4A"/>
                </a:solidFill>
                <a:latin typeface="Calibri Light"/>
              </a:defRPr>
            </a:pPr>
            <a:r>
              <a:t>Accept the default folder name. Click 'Install'.</a:t>
            </a:r>
          </a:p>
        </p:txBody>
      </p:sp>
      <p:sp>
        <p:nvSpPr>
          <p:cNvPr id="23" name="Rounded Rectangle 22"/>
          <p:cNvSpPr/>
          <p:nvPr/>
        </p:nvSpPr>
        <p:spPr>
          <a:xfrm>
            <a:off x="8686800" y="4069079"/>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0" y="4123944"/>
            <a:ext cx="2103120" cy="274320"/>
          </a:xfrm>
          <a:prstGeom prst="rect">
            <a:avLst/>
          </a:prstGeom>
          <a:noFill/>
        </p:spPr>
        <p:txBody>
          <a:bodyPr wrap="square">
            <a:spAutoFit/>
          </a:bodyPr>
          <a:lstStyle/>
          <a:p>
            <a:pPr algn="l">
              <a:defRPr sz="1000" b="1">
                <a:solidFill>
                  <a:srgbClr val="FFFFFF"/>
                </a:solidFill>
                <a:latin typeface="Calibri"/>
              </a:defRPr>
            </a:pPr>
            <a:r>
              <a:t>Install →</a:t>
            </a:r>
          </a:p>
        </p:txBody>
      </p:sp>
      <p:sp>
        <p:nvSpPr>
          <p:cNvPr id="25" name="Oval 24"/>
          <p:cNvSpPr/>
          <p:nvPr/>
        </p:nvSpPr>
        <p:spPr>
          <a:xfrm>
            <a:off x="640080" y="484632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5</a:t>
            </a:r>
          </a:p>
        </p:txBody>
      </p:sp>
      <p:sp>
        <p:nvSpPr>
          <p:cNvPr id="26" name="TextBox 25"/>
          <p:cNvSpPr txBox="1"/>
          <p:nvPr/>
        </p:nvSpPr>
        <p:spPr>
          <a:xfrm>
            <a:off x="1188720" y="4846320"/>
            <a:ext cx="5029200" cy="274320"/>
          </a:xfrm>
          <a:prstGeom prst="rect">
            <a:avLst/>
          </a:prstGeom>
          <a:noFill/>
        </p:spPr>
        <p:txBody>
          <a:bodyPr wrap="square">
            <a:spAutoFit/>
          </a:bodyPr>
          <a:lstStyle/>
          <a:p>
            <a:pPr algn="l">
              <a:defRPr sz="1400" b="1">
                <a:solidFill>
                  <a:srgbClr val="0F3C6B"/>
                </a:solidFill>
                <a:latin typeface="Calibri"/>
              </a:defRPr>
            </a:pPr>
            <a:r>
              <a:t>Step 5: Completing</a:t>
            </a:r>
          </a:p>
        </p:txBody>
      </p:sp>
      <p:sp>
        <p:nvSpPr>
          <p:cNvPr id="27" name="TextBox 26"/>
          <p:cNvSpPr txBox="1"/>
          <p:nvPr/>
        </p:nvSpPr>
        <p:spPr>
          <a:xfrm>
            <a:off x="1188720" y="5138928"/>
            <a:ext cx="6858000" cy="502920"/>
          </a:xfrm>
          <a:prstGeom prst="rect">
            <a:avLst/>
          </a:prstGeom>
          <a:noFill/>
        </p:spPr>
        <p:txBody>
          <a:bodyPr wrap="square">
            <a:spAutoFit/>
          </a:bodyPr>
          <a:lstStyle/>
          <a:p>
            <a:pPr algn="l">
              <a:defRPr sz="1100" b="0">
                <a:solidFill>
                  <a:srgbClr val="4A4A4A"/>
                </a:solidFill>
                <a:latin typeface="Calibri Light"/>
              </a:defRPr>
            </a:pPr>
            <a:r>
              <a:t>Click 'Finish'. Optionally launch RStudio now.</a:t>
            </a:r>
          </a:p>
        </p:txBody>
      </p:sp>
      <p:sp>
        <p:nvSpPr>
          <p:cNvPr id="28" name="Rounded Rectangle 27"/>
          <p:cNvSpPr/>
          <p:nvPr/>
        </p:nvSpPr>
        <p:spPr>
          <a:xfrm>
            <a:off x="8686800" y="4937759"/>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0" y="4992624"/>
            <a:ext cx="2103120" cy="274320"/>
          </a:xfrm>
          <a:prstGeom prst="rect">
            <a:avLst/>
          </a:prstGeom>
          <a:noFill/>
        </p:spPr>
        <p:txBody>
          <a:bodyPr wrap="square">
            <a:spAutoFit/>
          </a:bodyPr>
          <a:lstStyle/>
          <a:p>
            <a:pPr algn="l">
              <a:defRPr sz="1000" b="1">
                <a:solidFill>
                  <a:srgbClr val="FFFFFF"/>
                </a:solidFill>
                <a:latin typeface="Calibri"/>
              </a:defRPr>
            </a:pPr>
            <a:r>
              <a:t>Finish ✓</a:t>
            </a:r>
          </a:p>
        </p:txBody>
      </p:sp>
      <p:sp>
        <p:nvSpPr>
          <p:cNvPr id="30" name="Rectangle 29"/>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31" name="TextBox 30"/>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Launching RStudio</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Your first glimpse of the RStudio environment</a:t>
            </a:r>
          </a:p>
        </p:txBody>
      </p:sp>
      <p:sp>
        <p:nvSpPr>
          <p:cNvPr id="5" name="TextBox 4"/>
          <p:cNvSpPr txBox="1"/>
          <p:nvPr/>
        </p:nvSpPr>
        <p:spPr>
          <a:xfrm>
            <a:off x="731520" y="1371600"/>
            <a:ext cx="4572000" cy="365760"/>
          </a:xfrm>
          <a:prstGeom prst="rect">
            <a:avLst/>
          </a:prstGeom>
          <a:noFill/>
        </p:spPr>
        <p:txBody>
          <a:bodyPr wrap="square">
            <a:spAutoFit/>
          </a:bodyPr>
          <a:lstStyle/>
          <a:p>
            <a:pPr algn="l">
              <a:defRPr sz="1600" b="1">
                <a:solidFill>
                  <a:srgbClr val="0F3C6B"/>
                </a:solidFill>
                <a:latin typeface="Calibri"/>
              </a:defRPr>
            </a:pPr>
            <a:r>
              <a:t>Desktop shortcut or Start menu → RStudio</a:t>
            </a:r>
          </a:p>
        </p:txBody>
      </p:sp>
      <p:sp>
        <p:nvSpPr>
          <p:cNvPr id="6" name="Rounded Rectangle 5"/>
          <p:cNvSpPr/>
          <p:nvPr/>
        </p:nvSpPr>
        <p:spPr>
          <a:xfrm>
            <a:off x="731520" y="1920240"/>
            <a:ext cx="10698480" cy="4389120"/>
          </a:xfrm>
          <a:prstGeom prst="roundRect">
            <a:avLst/>
          </a:prstGeom>
          <a:solidFill>
            <a:srgbClr val="F0F0F0"/>
          </a:solidFill>
          <a:ln>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011680"/>
            <a:ext cx="3657600" cy="274320"/>
          </a:xfrm>
          <a:prstGeom prst="rect">
            <a:avLst/>
          </a:prstGeom>
          <a:noFill/>
        </p:spPr>
        <p:txBody>
          <a:bodyPr wrap="square">
            <a:spAutoFit/>
          </a:bodyPr>
          <a:lstStyle/>
          <a:p>
            <a:pPr algn="l">
              <a:defRPr sz="1100" b="1">
                <a:solidFill>
                  <a:srgbClr val="FFFFFF"/>
                </a:solidFill>
                <a:latin typeface="Calibri"/>
              </a:defRPr>
            </a:pPr>
            <a:r>
              <a:t>RStudio</a:t>
            </a:r>
          </a:p>
        </p:txBody>
      </p:sp>
      <p:sp>
        <p:nvSpPr>
          <p:cNvPr id="8" name="Rectangle 7"/>
          <p:cNvSpPr/>
          <p:nvPr/>
        </p:nvSpPr>
        <p:spPr>
          <a:xfrm>
            <a:off x="914400" y="2377440"/>
            <a:ext cx="5029200" cy="182880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423160"/>
            <a:ext cx="4846320" cy="274320"/>
          </a:xfrm>
          <a:prstGeom prst="rect">
            <a:avLst/>
          </a:prstGeom>
          <a:noFill/>
        </p:spPr>
        <p:txBody>
          <a:bodyPr wrap="square">
            <a:spAutoFit/>
          </a:bodyPr>
          <a:lstStyle/>
          <a:p>
            <a:pPr algn="l">
              <a:defRPr sz="900" b="1">
                <a:solidFill>
                  <a:srgbClr val="4A4A4A"/>
                </a:solidFill>
                <a:latin typeface="Calibri"/>
              </a:defRPr>
            </a:pPr>
            <a:r>
              <a:t>Source (Script) Editor</a:t>
            </a:r>
          </a:p>
        </p:txBody>
      </p:sp>
      <p:sp>
        <p:nvSpPr>
          <p:cNvPr id="10" name="TextBox 9"/>
          <p:cNvSpPr txBox="1"/>
          <p:nvPr/>
        </p:nvSpPr>
        <p:spPr>
          <a:xfrm>
            <a:off x="1097280" y="2697480"/>
            <a:ext cx="4572000" cy="1371600"/>
          </a:xfrm>
          <a:prstGeom prst="rect">
            <a:avLst/>
          </a:prstGeom>
          <a:noFill/>
        </p:spPr>
        <p:txBody>
          <a:bodyPr wrap="square">
            <a:spAutoFit/>
          </a:bodyPr>
          <a:lstStyle/>
          <a:p>
            <a:pPr algn="l">
              <a:defRPr sz="1100" b="0">
                <a:solidFill>
                  <a:srgbClr val="1A1A1A"/>
                </a:solidFill>
                <a:latin typeface="Consolas"/>
              </a:defRPr>
            </a:pPr>
            <a:r>
              <a:t># Untitled script</a:t>
            </a:r>
            <a:br/>
            <a:r>
              <a:t># Write your R code here</a:t>
            </a:r>
            <a:br/>
            <a:r>
              <a:t>print('Hello, world!')</a:t>
            </a:r>
          </a:p>
        </p:txBody>
      </p:sp>
      <p:sp>
        <p:nvSpPr>
          <p:cNvPr id="11" name="Rectangle 10"/>
          <p:cNvSpPr/>
          <p:nvPr/>
        </p:nvSpPr>
        <p:spPr>
          <a:xfrm>
            <a:off x="914400" y="4297680"/>
            <a:ext cx="5029200" cy="1828800"/>
          </a:xfrm>
          <a:prstGeom prst="rect">
            <a:avLst/>
          </a:prstGeom>
          <a:solidFill>
            <a:srgbClr val="F7F7F7"/>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343400"/>
            <a:ext cx="4846320" cy="274320"/>
          </a:xfrm>
          <a:prstGeom prst="rect">
            <a:avLst/>
          </a:prstGeom>
          <a:noFill/>
        </p:spPr>
        <p:txBody>
          <a:bodyPr wrap="square">
            <a:spAutoFit/>
          </a:bodyPr>
          <a:lstStyle/>
          <a:p>
            <a:pPr algn="l">
              <a:defRPr sz="900" b="1">
                <a:solidFill>
                  <a:srgbClr val="4A4A4A"/>
                </a:solidFill>
                <a:latin typeface="Calibri"/>
              </a:defRPr>
            </a:pPr>
            <a:r>
              <a:t>R Console</a:t>
            </a:r>
          </a:p>
        </p:txBody>
      </p:sp>
      <p:sp>
        <p:nvSpPr>
          <p:cNvPr id="13" name="TextBox 12"/>
          <p:cNvSpPr txBox="1"/>
          <p:nvPr/>
        </p:nvSpPr>
        <p:spPr>
          <a:xfrm>
            <a:off x="1097280" y="4617720"/>
            <a:ext cx="4572000" cy="1371600"/>
          </a:xfrm>
          <a:prstGeom prst="rect">
            <a:avLst/>
          </a:prstGeom>
          <a:noFill/>
        </p:spPr>
        <p:txBody>
          <a:bodyPr wrap="square">
            <a:spAutoFit/>
          </a:bodyPr>
          <a:lstStyle/>
          <a:p>
            <a:pPr algn="l">
              <a:defRPr sz="1000" b="0">
                <a:solidFill>
                  <a:srgbClr val="1A1A1A"/>
                </a:solidFill>
                <a:latin typeface="Consolas"/>
              </a:defRPr>
            </a:pPr>
            <a:r>
              <a:t>R version 4.6.4 (2025-06-15) -- "..."</a:t>
            </a:r>
            <a:br/>
            <a:r>
              <a:t>&gt; print('Hello world!')</a:t>
            </a:r>
            <a:br/>
            <a:r>
              <a:t>[1] "Hello world!"</a:t>
            </a:r>
            <a:br/>
            <a:r>
              <a:t>&gt;</a:t>
            </a:r>
          </a:p>
        </p:txBody>
      </p:sp>
      <p:sp>
        <p:nvSpPr>
          <p:cNvPr id="14" name="Rectangle 13"/>
          <p:cNvSpPr/>
          <p:nvPr/>
        </p:nvSpPr>
        <p:spPr>
          <a:xfrm>
            <a:off x="6126480" y="2377440"/>
            <a:ext cx="5029200" cy="1828800"/>
          </a:xfrm>
          <a:prstGeom prst="rect">
            <a:avLst/>
          </a:prstGeom>
          <a:solidFill>
            <a:srgbClr val="FFFFFF"/>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0" y="2423160"/>
            <a:ext cx="4846320" cy="274320"/>
          </a:xfrm>
          <a:prstGeom prst="rect">
            <a:avLst/>
          </a:prstGeom>
          <a:noFill/>
        </p:spPr>
        <p:txBody>
          <a:bodyPr wrap="square">
            <a:spAutoFit/>
          </a:bodyPr>
          <a:lstStyle/>
          <a:p>
            <a:pPr algn="l">
              <a:defRPr sz="900" b="1">
                <a:solidFill>
                  <a:srgbClr val="4A4A4A"/>
                </a:solidFill>
                <a:latin typeface="Calibri"/>
              </a:defRPr>
            </a:pPr>
            <a:r>
              <a:t>Environment / History / Connections</a:t>
            </a:r>
          </a:p>
        </p:txBody>
      </p:sp>
      <p:sp>
        <p:nvSpPr>
          <p:cNvPr id="16" name="TextBox 15"/>
          <p:cNvSpPr txBox="1"/>
          <p:nvPr/>
        </p:nvSpPr>
        <p:spPr>
          <a:xfrm>
            <a:off x="6309360" y="2743200"/>
            <a:ext cx="3657600" cy="1371600"/>
          </a:xfrm>
          <a:prstGeom prst="rect">
            <a:avLst/>
          </a:prstGeom>
          <a:noFill/>
        </p:spPr>
        <p:txBody>
          <a:bodyPr wrap="square">
            <a:spAutoFit/>
          </a:bodyPr>
          <a:lstStyle/>
          <a:p>
            <a:pPr algn="l">
              <a:defRPr sz="900" b="0">
                <a:solidFill>
                  <a:srgbClr val="4A4A4A"/>
                </a:solidFill>
                <a:latin typeface="Calibri"/>
              </a:defRPr>
            </a:pPr>
            <a:r>
              <a:t>Environment is empty</a:t>
            </a:r>
            <a:br/>
            <a:br/>
            <a:r>
              <a:t>Use the 'Import Dataset' button</a:t>
            </a:r>
            <a:br/>
            <a:r>
              <a:t>to load data.</a:t>
            </a:r>
          </a:p>
        </p:txBody>
      </p:sp>
      <p:sp>
        <p:nvSpPr>
          <p:cNvPr id="17" name="Rectangle 16"/>
          <p:cNvSpPr/>
          <p:nvPr/>
        </p:nvSpPr>
        <p:spPr>
          <a:xfrm>
            <a:off x="6126480" y="4297680"/>
            <a:ext cx="5029200" cy="1828800"/>
          </a:xfrm>
          <a:prstGeom prst="rect">
            <a:avLst/>
          </a:prstGeom>
          <a:solidFill>
            <a:srgbClr val="F7F7F7"/>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0" y="4343400"/>
            <a:ext cx="4846320" cy="274320"/>
          </a:xfrm>
          <a:prstGeom prst="rect">
            <a:avLst/>
          </a:prstGeom>
          <a:noFill/>
        </p:spPr>
        <p:txBody>
          <a:bodyPr wrap="square">
            <a:spAutoFit/>
          </a:bodyPr>
          <a:lstStyle/>
          <a:p>
            <a:pPr algn="l">
              <a:defRPr sz="900" b="1">
                <a:solidFill>
                  <a:srgbClr val="4A4A4A"/>
                </a:solidFill>
                <a:latin typeface="Calibri"/>
              </a:defRPr>
            </a:pPr>
            <a:r>
              <a:t>Files / Plots / Packages / Help / Viewer</a:t>
            </a:r>
          </a:p>
        </p:txBody>
      </p:sp>
      <p:sp>
        <p:nvSpPr>
          <p:cNvPr id="19" name="TextBox 18"/>
          <p:cNvSpPr txBox="1"/>
          <p:nvPr/>
        </p:nvSpPr>
        <p:spPr>
          <a:xfrm>
            <a:off x="6309360" y="4663440"/>
            <a:ext cx="4572000" cy="1371600"/>
          </a:xfrm>
          <a:prstGeom prst="rect">
            <a:avLst/>
          </a:prstGeom>
          <a:noFill/>
        </p:spPr>
        <p:txBody>
          <a:bodyPr wrap="square">
            <a:spAutoFit/>
          </a:bodyPr>
          <a:lstStyle/>
          <a:p>
            <a:pPr algn="l">
              <a:defRPr sz="900" b="0">
                <a:solidFill>
                  <a:srgbClr val="4A4A4A"/>
                </a:solidFill>
                <a:latin typeface="Calibri"/>
              </a:defRPr>
            </a:pPr>
            <a:r>
              <a:t>📁 Home/</a:t>
            </a:r>
            <a:br/>
            <a:r>
              <a:t>📁 Desktop/</a:t>
            </a:r>
            <a:br/>
            <a:r>
              <a:t>📁 Documents/</a:t>
            </a:r>
          </a:p>
        </p:txBody>
      </p:sp>
      <p:sp>
        <p:nvSpPr>
          <p:cNvPr id="20" name="Rectangle 19"/>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1" name="TextBox 20"/>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Downloading R 4.6.4 on macOS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Choose the right version for your Mac</a:t>
            </a:r>
          </a:p>
        </p:txBody>
      </p:sp>
      <p:sp>
        <p:nvSpPr>
          <p:cNvPr id="5" name="Oval 4"/>
          <p:cNvSpPr/>
          <p:nvPr/>
        </p:nvSpPr>
        <p:spPr>
          <a:xfrm>
            <a:off x="640080" y="146304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463040"/>
            <a:ext cx="5486400" cy="365760"/>
          </a:xfrm>
          <a:prstGeom prst="rect">
            <a:avLst/>
          </a:prstGeom>
          <a:noFill/>
        </p:spPr>
        <p:txBody>
          <a:bodyPr wrap="square">
            <a:spAutoFit/>
          </a:bodyPr>
          <a:lstStyle/>
          <a:p>
            <a:pPr algn="l">
              <a:defRPr sz="2000" b="1">
                <a:solidFill>
                  <a:srgbClr val="0F3C6B"/>
                </a:solidFill>
                <a:latin typeface="Calibri"/>
              </a:defRPr>
            </a:pPr>
            <a:r>
              <a:t>Identify your Mac type</a:t>
            </a:r>
          </a:p>
        </p:txBody>
      </p:sp>
      <p:sp>
        <p:nvSpPr>
          <p:cNvPr id="7" name="TextBox 6"/>
          <p:cNvSpPr txBox="1"/>
          <p:nvPr/>
        </p:nvSpPr>
        <p:spPr>
          <a:xfrm>
            <a:off x="1188720" y="1874519"/>
            <a:ext cx="5486400" cy="457200"/>
          </a:xfrm>
          <a:prstGeom prst="rect">
            <a:avLst/>
          </a:prstGeom>
          <a:noFill/>
        </p:spPr>
        <p:txBody>
          <a:bodyPr wrap="square">
            <a:spAutoFit/>
          </a:bodyPr>
          <a:lstStyle/>
          <a:p>
            <a:pPr algn="l">
              <a:defRPr sz="1300" b="0">
                <a:solidFill>
                  <a:srgbClr val="4A4A4A"/>
                </a:solidFill>
                <a:latin typeface="Calibri"/>
              </a:defRPr>
            </a:pPr>
            <a:r>
              <a:t>Click  → About This Mac → look for 'Chip' (M1/M2/M3) or 'Processor' (Intel). Download the matching R installer.</a:t>
            </a:r>
          </a:p>
        </p:txBody>
      </p:sp>
      <p:sp>
        <p:nvSpPr>
          <p:cNvPr id="8" name="Rounded Rectangle 7"/>
          <p:cNvSpPr/>
          <p:nvPr/>
        </p:nvSpPr>
        <p:spPr>
          <a:xfrm>
            <a:off x="1188720" y="2468880"/>
            <a:ext cx="6858000" cy="3200400"/>
          </a:xfrm>
          <a:prstGeom prst="roundRect">
            <a:avLst/>
          </a:prstGeom>
          <a:solidFill>
            <a:srgbClr val="FFFFFF"/>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88720" y="2468880"/>
            <a:ext cx="6858000" cy="320040"/>
          </a:xfrm>
          <a:prstGeom prst="rect">
            <a:avLst/>
          </a:prstGeom>
          <a:solidFill>
            <a:srgbClr val="DEE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325880" y="2542032"/>
            <a:ext cx="109728" cy="109728"/>
          </a:xfrm>
          <a:prstGeom prst="ellipse">
            <a:avLst/>
          </a:prstGeom>
          <a:solidFill>
            <a:srgbClr val="DB4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508760" y="2542032"/>
            <a:ext cx="109728" cy="109728"/>
          </a:xfrm>
          <a:prstGeom prst="ellipse">
            <a:avLst/>
          </a:prstGeom>
          <a:solidFill>
            <a:srgbClr val="F4B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691640" y="2542032"/>
            <a:ext cx="109728" cy="109728"/>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20240" y="2514600"/>
            <a:ext cx="5943600" cy="228600"/>
          </a:xfrm>
          <a:prstGeom prst="rect">
            <a:avLst/>
          </a:prstGeom>
          <a:noFill/>
        </p:spPr>
        <p:txBody>
          <a:bodyPr wrap="square">
            <a:spAutoFit/>
          </a:bodyPr>
          <a:lstStyle/>
          <a:p>
            <a:pPr algn="l">
              <a:defRPr sz="900" b="0">
                <a:solidFill>
                  <a:srgbClr val="4A4A4A"/>
                </a:solidFill>
                <a:latin typeface="Calibri"/>
              </a:defRPr>
            </a:pPr>
            <a:r>
              <a:t>CRAN – Download R for macOS</a:t>
            </a:r>
          </a:p>
        </p:txBody>
      </p:sp>
      <p:sp>
        <p:nvSpPr>
          <p:cNvPr id="14" name="Rounded Rectangle 13"/>
          <p:cNvSpPr/>
          <p:nvPr/>
        </p:nvSpPr>
        <p:spPr>
          <a:xfrm>
            <a:off x="1280160" y="2852928"/>
            <a:ext cx="6675120" cy="256032"/>
          </a:xfrm>
          <a:prstGeom prst="roundRect">
            <a:avLst/>
          </a:prstGeom>
          <a:solidFill>
            <a:srgbClr val="F5F6F8"/>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2871216"/>
            <a:ext cx="6492240" cy="219456"/>
          </a:xfrm>
          <a:prstGeom prst="rect">
            <a:avLst/>
          </a:prstGeom>
          <a:noFill/>
        </p:spPr>
        <p:txBody>
          <a:bodyPr wrap="square">
            <a:spAutoFit/>
          </a:bodyPr>
          <a:lstStyle/>
          <a:p>
            <a:pPr algn="l">
              <a:defRPr sz="800" b="0">
                <a:solidFill>
                  <a:srgbClr val="4A4A4A"/>
                </a:solidFill>
                <a:latin typeface="Calibri"/>
              </a:defRPr>
            </a:pPr>
            <a:r>
              <a:t>https://cran.r-project.org/bin/macosx/</a:t>
            </a:r>
          </a:p>
        </p:txBody>
      </p:sp>
      <p:sp>
        <p:nvSpPr>
          <p:cNvPr id="16" name="TextBox 15"/>
          <p:cNvSpPr txBox="1"/>
          <p:nvPr/>
        </p:nvSpPr>
        <p:spPr>
          <a:xfrm>
            <a:off x="1325880" y="3200400"/>
            <a:ext cx="6583680" cy="2331720"/>
          </a:xfrm>
          <a:prstGeom prst="rect">
            <a:avLst/>
          </a:prstGeom>
          <a:noFill/>
        </p:spPr>
        <p:txBody>
          <a:bodyPr wrap="square">
            <a:spAutoFit/>
          </a:bodyPr>
          <a:lstStyle/>
          <a:p>
            <a:pPr algn="l">
              <a:defRPr sz="900" b="0">
                <a:solidFill>
                  <a:srgbClr val="1A1A1A"/>
                </a:solidFill>
                <a:latin typeface="Calibri"/>
              </a:defRPr>
            </a:pPr>
            <a:r>
              <a:t>R for macOS</a:t>
            </a:r>
            <a:br/>
            <a:br/>
            <a:r>
              <a:t>┌──────────────────────────────────────────┐</a:t>
            </a:r>
            <a:br/>
            <a:r>
              <a:t>│ Download R-4.6.4-arm64.pkg               │</a:t>
            </a:r>
            <a:br/>
            <a:r>
              <a:t>│   for Apple Silicon (M1/M2/M3) Macs      │</a:t>
            </a:r>
            <a:br/>
            <a:r>
              <a:t>│   (87 MB)                                │</a:t>
            </a:r>
            <a:br/>
            <a:r>
              <a:t>└──────────────────────────────────────────┘</a:t>
            </a:r>
            <a:br/>
            <a:r>
              <a:t>┌──────────────────────────────────────────┐</a:t>
            </a:r>
            <a:br/>
            <a:r>
              <a:t>│ Download R-4.6.4-x86_64.pkg              │</a:t>
            </a:r>
            <a:br/>
            <a:r>
              <a:t>│   for older Intel Macs                   │</a:t>
            </a:r>
            <a:br/>
            <a:r>
              <a:t>│   (86 MB)                                │</a:t>
            </a:r>
            <a:br/>
            <a:r>
              <a:t>└──────────────────────────────────────────┘</a:t>
            </a:r>
            <a:br/>
            <a:br/>
            <a:r>
              <a:t>Note: macOS 12 (Monterey) or higher required.</a:t>
            </a:r>
          </a:p>
        </p:txBody>
      </p:sp>
      <p:sp>
        <p:nvSpPr>
          <p:cNvPr id="17" name="Rounded Rectangle 16"/>
          <p:cNvSpPr/>
          <p:nvPr/>
        </p:nvSpPr>
        <p:spPr>
          <a:xfrm>
            <a:off x="8412480" y="2468880"/>
            <a:ext cx="3200400" cy="73152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Apple Silicon → arm64</a:t>
            </a:r>
            <a:br/>
            <a:r>
              <a:t>Intel → x86_64</a:t>
            </a:r>
            <a:br/>
            <a:r>
              <a:t>Check 'About This Mac'</a:t>
            </a:r>
          </a:p>
        </p:txBody>
      </p:sp>
      <p:sp>
        <p:nvSpPr>
          <p:cNvPr id="18" name="Rectangle 17"/>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9" name="TextBox 18"/>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Installing R on macOS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Run the .pkg installer</a:t>
            </a:r>
          </a:p>
        </p:txBody>
      </p:sp>
      <p:sp>
        <p:nvSpPr>
          <p:cNvPr id="5" name="Oval 4"/>
          <p:cNvSpPr/>
          <p:nvPr/>
        </p:nvSpPr>
        <p:spPr>
          <a:xfrm>
            <a:off x="640080" y="13716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371600"/>
            <a:ext cx="5029200" cy="274320"/>
          </a:xfrm>
          <a:prstGeom prst="rect">
            <a:avLst/>
          </a:prstGeom>
          <a:noFill/>
        </p:spPr>
        <p:txBody>
          <a:bodyPr wrap="square">
            <a:spAutoFit/>
          </a:bodyPr>
          <a:lstStyle/>
          <a:p>
            <a:pPr algn="l">
              <a:defRPr sz="1400" b="1">
                <a:solidFill>
                  <a:srgbClr val="0F3C6B"/>
                </a:solidFill>
                <a:latin typeface="Calibri"/>
              </a:defRPr>
            </a:pPr>
            <a:r>
              <a:t>Step 1: Open the .pkg</a:t>
            </a:r>
          </a:p>
        </p:txBody>
      </p:sp>
      <p:sp>
        <p:nvSpPr>
          <p:cNvPr id="7" name="TextBox 6"/>
          <p:cNvSpPr txBox="1"/>
          <p:nvPr/>
        </p:nvSpPr>
        <p:spPr>
          <a:xfrm>
            <a:off x="1188720" y="1664208"/>
            <a:ext cx="6858000" cy="502920"/>
          </a:xfrm>
          <a:prstGeom prst="rect">
            <a:avLst/>
          </a:prstGeom>
          <a:noFill/>
        </p:spPr>
        <p:txBody>
          <a:bodyPr wrap="square">
            <a:spAutoFit/>
          </a:bodyPr>
          <a:lstStyle/>
          <a:p>
            <a:pPr algn="l">
              <a:defRPr sz="1100" b="0">
                <a:solidFill>
                  <a:srgbClr val="4A4A4A"/>
                </a:solidFill>
                <a:latin typeface="Calibri Light"/>
              </a:defRPr>
            </a:pPr>
            <a:r>
              <a:t>Double‑click the downloaded file (e.g., R-4.6.4-arm64.pkg). If macOS warns about an unidentified developer, right‑click → Open.</a:t>
            </a:r>
          </a:p>
        </p:txBody>
      </p:sp>
      <p:sp>
        <p:nvSpPr>
          <p:cNvPr id="8" name="Rounded Rectangle 7"/>
          <p:cNvSpPr/>
          <p:nvPr/>
        </p:nvSpPr>
        <p:spPr>
          <a:xfrm>
            <a:off x="8686800" y="1463040"/>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0" y="1517904"/>
            <a:ext cx="2103120" cy="274320"/>
          </a:xfrm>
          <a:prstGeom prst="rect">
            <a:avLst/>
          </a:prstGeom>
          <a:noFill/>
        </p:spPr>
        <p:txBody>
          <a:bodyPr wrap="square">
            <a:spAutoFit/>
          </a:bodyPr>
          <a:lstStyle/>
          <a:p>
            <a:pPr algn="l">
              <a:defRPr sz="1000" b="1">
                <a:solidFill>
                  <a:srgbClr val="FFFFFF"/>
                </a:solidFill>
                <a:latin typeface="Calibri"/>
              </a:defRPr>
            </a:pPr>
            <a:r>
              <a:t>Open</a:t>
            </a:r>
          </a:p>
        </p:txBody>
      </p:sp>
      <p:sp>
        <p:nvSpPr>
          <p:cNvPr id="10" name="Oval 9"/>
          <p:cNvSpPr/>
          <p:nvPr/>
        </p:nvSpPr>
        <p:spPr>
          <a:xfrm>
            <a:off x="640080" y="224028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2</a:t>
            </a:r>
          </a:p>
        </p:txBody>
      </p:sp>
      <p:sp>
        <p:nvSpPr>
          <p:cNvPr id="11" name="TextBox 10"/>
          <p:cNvSpPr txBox="1"/>
          <p:nvPr/>
        </p:nvSpPr>
        <p:spPr>
          <a:xfrm>
            <a:off x="1188720" y="2240280"/>
            <a:ext cx="5029200" cy="274320"/>
          </a:xfrm>
          <a:prstGeom prst="rect">
            <a:avLst/>
          </a:prstGeom>
          <a:noFill/>
        </p:spPr>
        <p:txBody>
          <a:bodyPr wrap="square">
            <a:spAutoFit/>
          </a:bodyPr>
          <a:lstStyle/>
          <a:p>
            <a:pPr algn="l">
              <a:defRPr sz="1400" b="1">
                <a:solidFill>
                  <a:srgbClr val="0F3C6B"/>
                </a:solidFill>
                <a:latin typeface="Calibri"/>
              </a:defRPr>
            </a:pPr>
            <a:r>
              <a:t>Step 2: Introduction</a:t>
            </a:r>
          </a:p>
        </p:txBody>
      </p:sp>
      <p:sp>
        <p:nvSpPr>
          <p:cNvPr id="12" name="TextBox 11"/>
          <p:cNvSpPr txBox="1"/>
          <p:nvPr/>
        </p:nvSpPr>
        <p:spPr>
          <a:xfrm>
            <a:off x="1188720" y="2532888"/>
            <a:ext cx="6858000" cy="502920"/>
          </a:xfrm>
          <a:prstGeom prst="rect">
            <a:avLst/>
          </a:prstGeom>
          <a:noFill/>
        </p:spPr>
        <p:txBody>
          <a:bodyPr wrap="square">
            <a:spAutoFit/>
          </a:bodyPr>
          <a:lstStyle/>
          <a:p>
            <a:pPr algn="l">
              <a:defRPr sz="1100" b="0">
                <a:solidFill>
                  <a:srgbClr val="4A4A4A"/>
                </a:solidFill>
                <a:latin typeface="Calibri Light"/>
              </a:defRPr>
            </a:pPr>
            <a:r>
              <a:t>Click 'Continue' on the introduction screen.</a:t>
            </a:r>
          </a:p>
        </p:txBody>
      </p:sp>
      <p:sp>
        <p:nvSpPr>
          <p:cNvPr id="13" name="Rounded Rectangle 12"/>
          <p:cNvSpPr/>
          <p:nvPr/>
        </p:nvSpPr>
        <p:spPr>
          <a:xfrm>
            <a:off x="8686800" y="2331720"/>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2386584"/>
            <a:ext cx="2103120" cy="274320"/>
          </a:xfrm>
          <a:prstGeom prst="rect">
            <a:avLst/>
          </a:prstGeom>
          <a:noFill/>
        </p:spPr>
        <p:txBody>
          <a:bodyPr wrap="square">
            <a:spAutoFit/>
          </a:bodyPr>
          <a:lstStyle/>
          <a:p>
            <a:pPr algn="l">
              <a:defRPr sz="1000" b="1">
                <a:solidFill>
                  <a:srgbClr val="FFFFFF"/>
                </a:solidFill>
                <a:latin typeface="Calibri"/>
              </a:defRPr>
            </a:pPr>
            <a:r>
              <a:t>Continue →</a:t>
            </a:r>
          </a:p>
        </p:txBody>
      </p:sp>
      <p:sp>
        <p:nvSpPr>
          <p:cNvPr id="15" name="Oval 14"/>
          <p:cNvSpPr/>
          <p:nvPr/>
        </p:nvSpPr>
        <p:spPr>
          <a:xfrm>
            <a:off x="640080" y="310896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3</a:t>
            </a:r>
          </a:p>
        </p:txBody>
      </p:sp>
      <p:sp>
        <p:nvSpPr>
          <p:cNvPr id="16" name="TextBox 15"/>
          <p:cNvSpPr txBox="1"/>
          <p:nvPr/>
        </p:nvSpPr>
        <p:spPr>
          <a:xfrm>
            <a:off x="1188720" y="3108960"/>
            <a:ext cx="5029200" cy="274320"/>
          </a:xfrm>
          <a:prstGeom prst="rect">
            <a:avLst/>
          </a:prstGeom>
          <a:noFill/>
        </p:spPr>
        <p:txBody>
          <a:bodyPr wrap="square">
            <a:spAutoFit/>
          </a:bodyPr>
          <a:lstStyle/>
          <a:p>
            <a:pPr algn="l">
              <a:defRPr sz="1400" b="1">
                <a:solidFill>
                  <a:srgbClr val="0F3C6B"/>
                </a:solidFill>
                <a:latin typeface="Calibri"/>
              </a:defRPr>
            </a:pPr>
            <a:r>
              <a:t>Step 3: License</a:t>
            </a:r>
          </a:p>
        </p:txBody>
      </p:sp>
      <p:sp>
        <p:nvSpPr>
          <p:cNvPr id="17" name="TextBox 16"/>
          <p:cNvSpPr txBox="1"/>
          <p:nvPr/>
        </p:nvSpPr>
        <p:spPr>
          <a:xfrm>
            <a:off x="1188720" y="3401568"/>
            <a:ext cx="6858000" cy="502920"/>
          </a:xfrm>
          <a:prstGeom prst="rect">
            <a:avLst/>
          </a:prstGeom>
          <a:noFill/>
        </p:spPr>
        <p:txBody>
          <a:bodyPr wrap="square">
            <a:spAutoFit/>
          </a:bodyPr>
          <a:lstStyle/>
          <a:p>
            <a:pPr algn="l">
              <a:defRPr sz="1100" b="0">
                <a:solidFill>
                  <a:srgbClr val="4A4A4A"/>
                </a:solidFill>
                <a:latin typeface="Calibri Light"/>
              </a:defRPr>
            </a:pPr>
            <a:r>
              <a:t>Read the license (GPL), click 'Continue', then 'Agree'.</a:t>
            </a:r>
          </a:p>
        </p:txBody>
      </p:sp>
      <p:sp>
        <p:nvSpPr>
          <p:cNvPr id="18" name="Rounded Rectangle 17"/>
          <p:cNvSpPr/>
          <p:nvPr/>
        </p:nvSpPr>
        <p:spPr>
          <a:xfrm>
            <a:off x="8686800" y="3200400"/>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0" y="3255264"/>
            <a:ext cx="2103120" cy="274320"/>
          </a:xfrm>
          <a:prstGeom prst="rect">
            <a:avLst/>
          </a:prstGeom>
          <a:noFill/>
        </p:spPr>
        <p:txBody>
          <a:bodyPr wrap="square">
            <a:spAutoFit/>
          </a:bodyPr>
          <a:lstStyle/>
          <a:p>
            <a:pPr algn="l">
              <a:defRPr sz="1000" b="1">
                <a:solidFill>
                  <a:srgbClr val="FFFFFF"/>
                </a:solidFill>
                <a:latin typeface="Calibri"/>
              </a:defRPr>
            </a:pPr>
            <a:r>
              <a:t>Agree ✓</a:t>
            </a:r>
          </a:p>
        </p:txBody>
      </p:sp>
      <p:sp>
        <p:nvSpPr>
          <p:cNvPr id="20" name="Oval 19"/>
          <p:cNvSpPr/>
          <p:nvPr/>
        </p:nvSpPr>
        <p:spPr>
          <a:xfrm>
            <a:off x="640080" y="3977639"/>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4</a:t>
            </a:r>
          </a:p>
        </p:txBody>
      </p:sp>
      <p:sp>
        <p:nvSpPr>
          <p:cNvPr id="21" name="TextBox 20"/>
          <p:cNvSpPr txBox="1"/>
          <p:nvPr/>
        </p:nvSpPr>
        <p:spPr>
          <a:xfrm>
            <a:off x="1188720" y="3977639"/>
            <a:ext cx="5029200" cy="274320"/>
          </a:xfrm>
          <a:prstGeom prst="rect">
            <a:avLst/>
          </a:prstGeom>
          <a:noFill/>
        </p:spPr>
        <p:txBody>
          <a:bodyPr wrap="square">
            <a:spAutoFit/>
          </a:bodyPr>
          <a:lstStyle/>
          <a:p>
            <a:pPr algn="l">
              <a:defRPr sz="1400" b="1">
                <a:solidFill>
                  <a:srgbClr val="0F3C6B"/>
                </a:solidFill>
                <a:latin typeface="Calibri"/>
              </a:defRPr>
            </a:pPr>
            <a:r>
              <a:t>Step 4: Install</a:t>
            </a:r>
          </a:p>
        </p:txBody>
      </p:sp>
      <p:sp>
        <p:nvSpPr>
          <p:cNvPr id="22" name="TextBox 21"/>
          <p:cNvSpPr txBox="1"/>
          <p:nvPr/>
        </p:nvSpPr>
        <p:spPr>
          <a:xfrm>
            <a:off x="1188720" y="4270248"/>
            <a:ext cx="6858000" cy="502920"/>
          </a:xfrm>
          <a:prstGeom prst="rect">
            <a:avLst/>
          </a:prstGeom>
          <a:noFill/>
        </p:spPr>
        <p:txBody>
          <a:bodyPr wrap="square">
            <a:spAutoFit/>
          </a:bodyPr>
          <a:lstStyle/>
          <a:p>
            <a:pPr algn="l">
              <a:defRPr sz="1100" b="0">
                <a:solidFill>
                  <a:srgbClr val="4A4A4A"/>
                </a:solidFill>
                <a:latin typeface="Calibri Light"/>
              </a:defRPr>
            </a:pPr>
            <a:r>
              <a:t>Click 'Install'. Enter your Mac's administrator password when prompted.</a:t>
            </a:r>
          </a:p>
        </p:txBody>
      </p:sp>
      <p:sp>
        <p:nvSpPr>
          <p:cNvPr id="23" name="Rounded Rectangle 22"/>
          <p:cNvSpPr/>
          <p:nvPr/>
        </p:nvSpPr>
        <p:spPr>
          <a:xfrm>
            <a:off x="8686800" y="4069079"/>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0" y="4123944"/>
            <a:ext cx="2103120" cy="274320"/>
          </a:xfrm>
          <a:prstGeom prst="rect">
            <a:avLst/>
          </a:prstGeom>
          <a:noFill/>
        </p:spPr>
        <p:txBody>
          <a:bodyPr wrap="square">
            <a:spAutoFit/>
          </a:bodyPr>
          <a:lstStyle/>
          <a:p>
            <a:pPr algn="l">
              <a:defRPr sz="1000" b="1">
                <a:solidFill>
                  <a:srgbClr val="FFFFFF"/>
                </a:solidFill>
                <a:latin typeface="Calibri"/>
              </a:defRPr>
            </a:pPr>
            <a:r>
              <a:t>Install 🔒</a:t>
            </a:r>
          </a:p>
        </p:txBody>
      </p:sp>
      <p:sp>
        <p:nvSpPr>
          <p:cNvPr id="25" name="Oval 24"/>
          <p:cNvSpPr/>
          <p:nvPr/>
        </p:nvSpPr>
        <p:spPr>
          <a:xfrm>
            <a:off x="640080" y="484632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5</a:t>
            </a:r>
          </a:p>
        </p:txBody>
      </p:sp>
      <p:sp>
        <p:nvSpPr>
          <p:cNvPr id="26" name="TextBox 25"/>
          <p:cNvSpPr txBox="1"/>
          <p:nvPr/>
        </p:nvSpPr>
        <p:spPr>
          <a:xfrm>
            <a:off x="1188720" y="4846320"/>
            <a:ext cx="5029200" cy="274320"/>
          </a:xfrm>
          <a:prstGeom prst="rect">
            <a:avLst/>
          </a:prstGeom>
          <a:noFill/>
        </p:spPr>
        <p:txBody>
          <a:bodyPr wrap="square">
            <a:spAutoFit/>
          </a:bodyPr>
          <a:lstStyle/>
          <a:p>
            <a:pPr algn="l">
              <a:defRPr sz="1400" b="1">
                <a:solidFill>
                  <a:srgbClr val="0F3C6B"/>
                </a:solidFill>
                <a:latin typeface="Calibri"/>
              </a:defRPr>
            </a:pPr>
            <a:r>
              <a:t>Step 5: Finish</a:t>
            </a:r>
          </a:p>
        </p:txBody>
      </p:sp>
      <p:sp>
        <p:nvSpPr>
          <p:cNvPr id="27" name="TextBox 26"/>
          <p:cNvSpPr txBox="1"/>
          <p:nvPr/>
        </p:nvSpPr>
        <p:spPr>
          <a:xfrm>
            <a:off x="1188720" y="5138928"/>
            <a:ext cx="6858000" cy="502920"/>
          </a:xfrm>
          <a:prstGeom prst="rect">
            <a:avLst/>
          </a:prstGeom>
          <a:noFill/>
        </p:spPr>
        <p:txBody>
          <a:bodyPr wrap="square">
            <a:spAutoFit/>
          </a:bodyPr>
          <a:lstStyle/>
          <a:p>
            <a:pPr algn="l">
              <a:defRPr sz="1100" b="0">
                <a:solidFill>
                  <a:srgbClr val="4A4A4A"/>
                </a:solidFill>
                <a:latin typeface="Calibri Light"/>
              </a:defRPr>
            </a:pPr>
            <a:r>
              <a:t>After installation completes (2–3 min), click 'Close'. You may move the installer to Trash.</a:t>
            </a:r>
          </a:p>
        </p:txBody>
      </p:sp>
      <p:sp>
        <p:nvSpPr>
          <p:cNvPr id="28" name="Rounded Rectangle 27"/>
          <p:cNvSpPr/>
          <p:nvPr/>
        </p:nvSpPr>
        <p:spPr>
          <a:xfrm>
            <a:off x="8686800" y="4937759"/>
            <a:ext cx="2286000" cy="41148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0" y="4992624"/>
            <a:ext cx="2103120" cy="274320"/>
          </a:xfrm>
          <a:prstGeom prst="rect">
            <a:avLst/>
          </a:prstGeom>
          <a:noFill/>
        </p:spPr>
        <p:txBody>
          <a:bodyPr wrap="square">
            <a:spAutoFit/>
          </a:bodyPr>
          <a:lstStyle/>
          <a:p>
            <a:pPr algn="l">
              <a:defRPr sz="1000" b="1">
                <a:solidFill>
                  <a:srgbClr val="FFFFFF"/>
                </a:solidFill>
                <a:latin typeface="Calibri"/>
              </a:defRPr>
            </a:pPr>
            <a:r>
              <a:t>Close ✓</a:t>
            </a:r>
          </a:p>
        </p:txBody>
      </p:sp>
      <p:sp>
        <p:nvSpPr>
          <p:cNvPr id="30" name="Rectangle 29"/>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31" name="TextBox 30"/>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RStudio on macOS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Download and install the macOS version</a:t>
            </a:r>
          </a:p>
        </p:txBody>
      </p:sp>
      <p:sp>
        <p:nvSpPr>
          <p:cNvPr id="5" name="TextBox 4"/>
          <p:cNvSpPr txBox="1"/>
          <p:nvPr/>
        </p:nvSpPr>
        <p:spPr>
          <a:xfrm>
            <a:off x="731520" y="1371600"/>
            <a:ext cx="5486400" cy="365760"/>
          </a:xfrm>
          <a:prstGeom prst="rect">
            <a:avLst/>
          </a:prstGeom>
          <a:noFill/>
        </p:spPr>
        <p:txBody>
          <a:bodyPr wrap="square">
            <a:spAutoFit/>
          </a:bodyPr>
          <a:lstStyle/>
          <a:p>
            <a:pPr algn="l">
              <a:defRPr sz="1600" b="1">
                <a:solidFill>
                  <a:srgbClr val="0F3C6B"/>
                </a:solidFill>
                <a:latin typeface="Calibri"/>
              </a:defRPr>
            </a:pPr>
            <a:r>
              <a:t>Visit posit.co/download/rstudio-desktop/ and get the macOS installer.</a:t>
            </a:r>
          </a:p>
        </p:txBody>
      </p:sp>
      <p:sp>
        <p:nvSpPr>
          <p:cNvPr id="6" name="TextBox 5"/>
          <p:cNvSpPr txBox="1"/>
          <p:nvPr/>
        </p:nvSpPr>
        <p:spPr>
          <a:xfrm>
            <a:off x="731520" y="1828800"/>
            <a:ext cx="5486400" cy="365760"/>
          </a:xfrm>
          <a:prstGeom prst="rect">
            <a:avLst/>
          </a:prstGeom>
          <a:noFill/>
        </p:spPr>
        <p:txBody>
          <a:bodyPr wrap="square">
            <a:spAutoFit/>
          </a:bodyPr>
          <a:lstStyle/>
          <a:p>
            <a:pPr algn="l">
              <a:defRPr sz="1200" b="0">
                <a:solidFill>
                  <a:srgbClr val="4A4A4A"/>
                </a:solidFill>
                <a:latin typeface="Calibri"/>
              </a:defRPr>
            </a:pPr>
            <a:r>
              <a:t>Open the .dmg file, drag RStudio to Applications, and launch it.</a:t>
            </a:r>
          </a:p>
        </p:txBody>
      </p:sp>
      <p:sp>
        <p:nvSpPr>
          <p:cNvPr id="7" name="Rounded Rectangle 6"/>
          <p:cNvSpPr/>
          <p:nvPr/>
        </p:nvSpPr>
        <p:spPr>
          <a:xfrm>
            <a:off x="731520" y="2468880"/>
            <a:ext cx="5486400" cy="347472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560320"/>
            <a:ext cx="5029200" cy="274320"/>
          </a:xfrm>
          <a:prstGeom prst="rect">
            <a:avLst/>
          </a:prstGeom>
          <a:noFill/>
        </p:spPr>
        <p:txBody>
          <a:bodyPr wrap="square">
            <a:spAutoFit/>
          </a:bodyPr>
          <a:lstStyle/>
          <a:p>
            <a:pPr algn="l">
              <a:defRPr sz="1100" b="1">
                <a:solidFill>
                  <a:srgbClr val="4A4A4A"/>
                </a:solidFill>
                <a:latin typeface="Calibri"/>
              </a:defRPr>
            </a:pPr>
            <a:r>
              <a:t>RStudio</a:t>
            </a:r>
          </a:p>
        </p:txBody>
      </p:sp>
      <p:sp>
        <p:nvSpPr>
          <p:cNvPr id="9" name="TextBox 8"/>
          <p:cNvSpPr txBox="1"/>
          <p:nvPr/>
        </p:nvSpPr>
        <p:spPr>
          <a:xfrm>
            <a:off x="1097280" y="3017520"/>
            <a:ext cx="1828800" cy="457200"/>
          </a:xfrm>
          <a:prstGeom prst="rect">
            <a:avLst/>
          </a:prstGeom>
          <a:noFill/>
        </p:spPr>
        <p:txBody>
          <a:bodyPr wrap="square">
            <a:spAutoFit/>
          </a:bodyPr>
          <a:lstStyle/>
          <a:p>
            <a:pPr algn="l">
              <a:defRPr sz="1200" b="0">
                <a:solidFill>
                  <a:srgbClr val="1A1A1A"/>
                </a:solidFill>
                <a:latin typeface="Calibri"/>
              </a:defRPr>
            </a:pPr>
            <a:r>
              <a:t>RStudio.app</a:t>
            </a:r>
          </a:p>
        </p:txBody>
      </p:sp>
      <p:sp>
        <p:nvSpPr>
          <p:cNvPr id="10" name="TextBox 9"/>
          <p:cNvSpPr txBox="1"/>
          <p:nvPr/>
        </p:nvSpPr>
        <p:spPr>
          <a:xfrm>
            <a:off x="3657600" y="3017520"/>
            <a:ext cx="1828800" cy="457200"/>
          </a:xfrm>
          <a:prstGeom prst="rect">
            <a:avLst/>
          </a:prstGeom>
          <a:noFill/>
        </p:spPr>
        <p:txBody>
          <a:bodyPr wrap="square">
            <a:spAutoFit/>
          </a:bodyPr>
          <a:lstStyle/>
          <a:p>
            <a:pPr algn="l">
              <a:defRPr sz="1200" b="0">
                <a:solidFill>
                  <a:srgbClr val="4A4A4A"/>
                </a:solidFill>
                <a:latin typeface="Calibri"/>
              </a:defRPr>
            </a:pPr>
            <a:r>
              <a:t>Applications</a:t>
            </a:r>
          </a:p>
        </p:txBody>
      </p:sp>
      <p:sp>
        <p:nvSpPr>
          <p:cNvPr id="11" name="TextBox 10"/>
          <p:cNvSpPr txBox="1"/>
          <p:nvPr/>
        </p:nvSpPr>
        <p:spPr>
          <a:xfrm>
            <a:off x="1097280" y="3657600"/>
            <a:ext cx="4572000" cy="1828800"/>
          </a:xfrm>
          <a:prstGeom prst="rect">
            <a:avLst/>
          </a:prstGeom>
          <a:noFill/>
        </p:spPr>
        <p:txBody>
          <a:bodyPr wrap="square">
            <a:spAutoFit/>
          </a:bodyPr>
          <a:lstStyle/>
          <a:p>
            <a:pPr algn="l">
              <a:defRPr sz="1000" b="0">
                <a:solidFill>
                  <a:srgbClr val="4A4A4A"/>
                </a:solidFill>
                <a:latin typeface="Calibri"/>
              </a:defRPr>
            </a:pPr>
            <a:r>
              <a:t>Drag the RStudio icon into the</a:t>
            </a:r>
            <a:br/>
            <a:r>
              <a:t>Applications folder to install.</a:t>
            </a:r>
            <a:br/>
            <a:br/>
            <a:r>
              <a:t>Then open Launchpad and click</a:t>
            </a:r>
            <a:br/>
            <a:r>
              <a:t>RStudio to launch it.</a:t>
            </a:r>
          </a:p>
        </p:txBody>
      </p:sp>
      <p:sp>
        <p:nvSpPr>
          <p:cNvPr id="12" name="Down Arrow 11"/>
          <p:cNvSpPr/>
          <p:nvPr/>
        </p:nvSpPr>
        <p:spPr>
          <a:xfrm>
            <a:off x="2743200" y="3840480"/>
            <a:ext cx="457200" cy="457200"/>
          </a:xfrm>
          <a:prstGeom prst="downArrow">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83680" y="2468880"/>
            <a:ext cx="5029200" cy="54864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latin typeface="Calibri"/>
              </a:defRPr>
            </a:pPr>
            <a:r>
              <a:t>Remember: R must be installed BEFORE RStudio!</a:t>
            </a:r>
          </a:p>
        </p:txBody>
      </p:sp>
      <p:sp>
        <p:nvSpPr>
          <p:cNvPr id="14" name="Rectangle 13"/>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5" name="TextBox 14"/>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RStudio Environment Tour</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Script Editor and Console – where code happens</a:t>
            </a:r>
          </a:p>
        </p:txBody>
      </p:sp>
      <p:sp>
        <p:nvSpPr>
          <p:cNvPr id="5" name="Rounded Rectangle 4"/>
          <p:cNvSpPr/>
          <p:nvPr/>
        </p:nvSpPr>
        <p:spPr>
          <a:xfrm>
            <a:off x="731520" y="1463040"/>
            <a:ext cx="5303520" cy="228600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54480"/>
            <a:ext cx="4937760" cy="274320"/>
          </a:xfrm>
          <a:prstGeom prst="rect">
            <a:avLst/>
          </a:prstGeom>
          <a:noFill/>
        </p:spPr>
        <p:txBody>
          <a:bodyPr wrap="square">
            <a:spAutoFit/>
          </a:bodyPr>
          <a:lstStyle/>
          <a:p>
            <a:pPr algn="l">
              <a:defRPr sz="1300" b="1">
                <a:solidFill>
                  <a:srgbClr val="0F3C6B"/>
                </a:solidFill>
                <a:latin typeface="Calibri"/>
              </a:defRPr>
            </a:pPr>
            <a:r>
              <a:t>📝 Script Editor (Source)</a:t>
            </a:r>
          </a:p>
        </p:txBody>
      </p:sp>
      <p:sp>
        <p:nvSpPr>
          <p:cNvPr id="7" name="TextBox 6"/>
          <p:cNvSpPr txBox="1"/>
          <p:nvPr/>
        </p:nvSpPr>
        <p:spPr>
          <a:xfrm>
            <a:off x="914400" y="1920240"/>
            <a:ext cx="4937760" cy="1645920"/>
          </a:xfrm>
          <a:prstGeom prst="rect">
            <a:avLst/>
          </a:prstGeom>
          <a:noFill/>
        </p:spPr>
        <p:txBody>
          <a:bodyPr wrap="square">
            <a:spAutoFit/>
          </a:bodyPr>
          <a:lstStyle/>
          <a:p>
            <a:pPr algn="l">
              <a:defRPr sz="1100" b="0">
                <a:solidFill>
                  <a:srgbClr val="4A4A4A"/>
                </a:solidFill>
                <a:latin typeface="Calibri Light"/>
              </a:defRPr>
            </a:pPr>
            <a:r>
              <a:t>• Write, edit, and save R scripts (.R files)</a:t>
            </a:r>
            <a:br/>
            <a:r>
              <a:t>• Send code to Console with Ctrl+Enter (⌘+Enter on Mac)</a:t>
            </a:r>
            <a:br/>
            <a:r>
              <a:t>• Syntax highlighting, code completion</a:t>
            </a:r>
            <a:br/>
            <a:r>
              <a:t>• Find/replace, multiple tabs</a:t>
            </a:r>
          </a:p>
        </p:txBody>
      </p:sp>
      <p:sp>
        <p:nvSpPr>
          <p:cNvPr id="8" name="Rounded Rectangle 7"/>
          <p:cNvSpPr/>
          <p:nvPr/>
        </p:nvSpPr>
        <p:spPr>
          <a:xfrm>
            <a:off x="6400800" y="1463040"/>
            <a:ext cx="5029200" cy="228600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554480"/>
            <a:ext cx="4663440" cy="274320"/>
          </a:xfrm>
          <a:prstGeom prst="rect">
            <a:avLst/>
          </a:prstGeom>
          <a:noFill/>
        </p:spPr>
        <p:txBody>
          <a:bodyPr wrap="square">
            <a:spAutoFit/>
          </a:bodyPr>
          <a:lstStyle/>
          <a:p>
            <a:pPr algn="l">
              <a:defRPr sz="1300" b="1">
                <a:solidFill>
                  <a:srgbClr val="0F3C6B"/>
                </a:solidFill>
                <a:latin typeface="Calibri"/>
              </a:defRPr>
            </a:pPr>
            <a:r>
              <a:t>💻 R Console</a:t>
            </a:r>
          </a:p>
        </p:txBody>
      </p:sp>
      <p:sp>
        <p:nvSpPr>
          <p:cNvPr id="10" name="TextBox 9"/>
          <p:cNvSpPr txBox="1"/>
          <p:nvPr/>
        </p:nvSpPr>
        <p:spPr>
          <a:xfrm>
            <a:off x="6583680" y="1920240"/>
            <a:ext cx="4663440" cy="1645920"/>
          </a:xfrm>
          <a:prstGeom prst="rect">
            <a:avLst/>
          </a:prstGeom>
          <a:noFill/>
        </p:spPr>
        <p:txBody>
          <a:bodyPr wrap="square">
            <a:spAutoFit/>
          </a:bodyPr>
          <a:lstStyle/>
          <a:p>
            <a:pPr algn="l">
              <a:defRPr sz="1100" b="0">
                <a:solidFill>
                  <a:srgbClr val="4A4A4A"/>
                </a:solidFill>
                <a:latin typeface="Calibri Light"/>
              </a:defRPr>
            </a:pPr>
            <a:r>
              <a:t>• Interactive R session</a:t>
            </a:r>
            <a:br/>
            <a:r>
              <a:t>• Execute commands directly and see output</a:t>
            </a:r>
            <a:br/>
            <a:r>
              <a:t>• Displays errors and warnings</a:t>
            </a:r>
            <a:br/>
            <a:r>
              <a:t>• History of commands (up/down arrows)</a:t>
            </a:r>
            <a:br/>
            <a:r>
              <a:t>• Search previous commands with Ctrl+↑</a:t>
            </a:r>
          </a:p>
        </p:txBody>
      </p:sp>
      <p:sp>
        <p:nvSpPr>
          <p:cNvPr id="11" name="TextBox 10"/>
          <p:cNvSpPr txBox="1"/>
          <p:nvPr/>
        </p:nvSpPr>
        <p:spPr>
          <a:xfrm>
            <a:off x="731520" y="4023360"/>
            <a:ext cx="1828800" cy="274320"/>
          </a:xfrm>
          <a:prstGeom prst="rect">
            <a:avLst/>
          </a:prstGeom>
          <a:noFill/>
        </p:spPr>
        <p:txBody>
          <a:bodyPr wrap="square">
            <a:spAutoFit/>
          </a:bodyPr>
          <a:lstStyle/>
          <a:p>
            <a:pPr algn="l">
              <a:defRPr sz="1200" b="1">
                <a:solidFill>
                  <a:srgbClr val="0F3C6B"/>
                </a:solidFill>
                <a:latin typeface="Calibri"/>
              </a:defRPr>
            </a:pPr>
            <a:r>
              <a:t>🗂 Environment</a:t>
            </a:r>
          </a:p>
        </p:txBody>
      </p:sp>
      <p:sp>
        <p:nvSpPr>
          <p:cNvPr id="12" name="TextBox 11"/>
          <p:cNvSpPr txBox="1"/>
          <p:nvPr/>
        </p:nvSpPr>
        <p:spPr>
          <a:xfrm>
            <a:off x="731520" y="4389120"/>
            <a:ext cx="2286000" cy="914400"/>
          </a:xfrm>
          <a:prstGeom prst="rect">
            <a:avLst/>
          </a:prstGeom>
          <a:noFill/>
        </p:spPr>
        <p:txBody>
          <a:bodyPr wrap="square">
            <a:spAutoFit/>
          </a:bodyPr>
          <a:lstStyle/>
          <a:p>
            <a:pPr algn="l">
              <a:defRPr sz="1000" b="0">
                <a:solidFill>
                  <a:srgbClr val="4A4A4A"/>
                </a:solidFill>
                <a:latin typeface="Calibri"/>
              </a:defRPr>
            </a:pPr>
            <a:r>
              <a:t>Shows variables, data frames, lists, and other objects in memory.</a:t>
            </a:r>
          </a:p>
        </p:txBody>
      </p:sp>
      <p:sp>
        <p:nvSpPr>
          <p:cNvPr id="13" name="TextBox 12"/>
          <p:cNvSpPr txBox="1"/>
          <p:nvPr/>
        </p:nvSpPr>
        <p:spPr>
          <a:xfrm>
            <a:off x="3474720" y="4023360"/>
            <a:ext cx="1828800" cy="274320"/>
          </a:xfrm>
          <a:prstGeom prst="rect">
            <a:avLst/>
          </a:prstGeom>
          <a:noFill/>
        </p:spPr>
        <p:txBody>
          <a:bodyPr wrap="square">
            <a:spAutoFit/>
          </a:bodyPr>
          <a:lstStyle/>
          <a:p>
            <a:pPr algn="l">
              <a:defRPr sz="1200" b="1">
                <a:solidFill>
                  <a:srgbClr val="0F3C6B"/>
                </a:solidFill>
                <a:latin typeface="Calibri"/>
              </a:defRPr>
            </a:pPr>
            <a:r>
              <a:t>📜 History</a:t>
            </a:r>
          </a:p>
        </p:txBody>
      </p:sp>
      <p:sp>
        <p:nvSpPr>
          <p:cNvPr id="14" name="TextBox 13"/>
          <p:cNvSpPr txBox="1"/>
          <p:nvPr/>
        </p:nvSpPr>
        <p:spPr>
          <a:xfrm>
            <a:off x="3474720" y="4389120"/>
            <a:ext cx="2286000" cy="914400"/>
          </a:xfrm>
          <a:prstGeom prst="rect">
            <a:avLst/>
          </a:prstGeom>
          <a:noFill/>
        </p:spPr>
        <p:txBody>
          <a:bodyPr wrap="square">
            <a:spAutoFit/>
          </a:bodyPr>
          <a:lstStyle/>
          <a:p>
            <a:pPr algn="l">
              <a:defRPr sz="1000" b="0">
                <a:solidFill>
                  <a:srgbClr val="4A4A4A"/>
                </a:solidFill>
                <a:latin typeface="Calibri"/>
              </a:defRPr>
            </a:pPr>
            <a:r>
              <a:t>Records every command you run. Can be searched and re‑executed.</a:t>
            </a:r>
          </a:p>
        </p:txBody>
      </p:sp>
      <p:sp>
        <p:nvSpPr>
          <p:cNvPr id="15" name="TextBox 14"/>
          <p:cNvSpPr txBox="1"/>
          <p:nvPr/>
        </p:nvSpPr>
        <p:spPr>
          <a:xfrm>
            <a:off x="6217920" y="4023360"/>
            <a:ext cx="1828800" cy="274320"/>
          </a:xfrm>
          <a:prstGeom prst="rect">
            <a:avLst/>
          </a:prstGeom>
          <a:noFill/>
        </p:spPr>
        <p:txBody>
          <a:bodyPr wrap="square">
            <a:spAutoFit/>
          </a:bodyPr>
          <a:lstStyle/>
          <a:p>
            <a:pPr algn="l">
              <a:defRPr sz="1200" b="1">
                <a:solidFill>
                  <a:srgbClr val="0F3C6B"/>
                </a:solidFill>
                <a:latin typeface="Calibri"/>
              </a:defRPr>
            </a:pPr>
            <a:r>
              <a:t>📁 Files/Plots/Pkgs/Help</a:t>
            </a:r>
          </a:p>
        </p:txBody>
      </p:sp>
      <p:sp>
        <p:nvSpPr>
          <p:cNvPr id="16" name="TextBox 15"/>
          <p:cNvSpPr txBox="1"/>
          <p:nvPr/>
        </p:nvSpPr>
        <p:spPr>
          <a:xfrm>
            <a:off x="6217920" y="4389120"/>
            <a:ext cx="5029200" cy="914400"/>
          </a:xfrm>
          <a:prstGeom prst="rect">
            <a:avLst/>
          </a:prstGeom>
          <a:noFill/>
        </p:spPr>
        <p:txBody>
          <a:bodyPr wrap="square">
            <a:spAutoFit/>
          </a:bodyPr>
          <a:lstStyle/>
          <a:p>
            <a:pPr algn="l">
              <a:defRPr sz="1000" b="0">
                <a:solidFill>
                  <a:srgbClr val="4A4A4A"/>
                </a:solidFill>
                <a:latin typeface="Calibri"/>
              </a:defRPr>
            </a:pPr>
            <a:r>
              <a:t>Browse files, view plots, manage packages, access help documents, and display HTML outputs.</a:t>
            </a:r>
          </a:p>
        </p:txBody>
      </p:sp>
      <p:sp>
        <p:nvSpPr>
          <p:cNvPr id="17" name="Rectangle 16"/>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8" name="TextBox 17"/>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Writing Your First R Program</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Hello World – and beyond!</a:t>
            </a:r>
          </a:p>
        </p:txBody>
      </p:sp>
      <p:sp>
        <p:nvSpPr>
          <p:cNvPr id="5" name="Oval 4"/>
          <p:cNvSpPr/>
          <p:nvPr/>
        </p:nvSpPr>
        <p:spPr>
          <a:xfrm>
            <a:off x="640080" y="13716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1</a:t>
            </a:r>
          </a:p>
        </p:txBody>
      </p:sp>
      <p:sp>
        <p:nvSpPr>
          <p:cNvPr id="6" name="TextBox 5"/>
          <p:cNvSpPr txBox="1"/>
          <p:nvPr/>
        </p:nvSpPr>
        <p:spPr>
          <a:xfrm>
            <a:off x="1188720" y="1371600"/>
            <a:ext cx="4572000" cy="365760"/>
          </a:xfrm>
          <a:prstGeom prst="rect">
            <a:avLst/>
          </a:prstGeom>
          <a:noFill/>
        </p:spPr>
        <p:txBody>
          <a:bodyPr wrap="square">
            <a:spAutoFit/>
          </a:bodyPr>
          <a:lstStyle/>
          <a:p>
            <a:pPr algn="l">
              <a:defRPr sz="1600" b="1">
                <a:solidFill>
                  <a:srgbClr val="0F3C6B"/>
                </a:solidFill>
                <a:latin typeface="Calibri"/>
              </a:defRPr>
            </a:pPr>
            <a:r>
              <a:t>Create a new script</a:t>
            </a:r>
          </a:p>
        </p:txBody>
      </p:sp>
      <p:sp>
        <p:nvSpPr>
          <p:cNvPr id="7" name="TextBox 6"/>
          <p:cNvSpPr txBox="1"/>
          <p:nvPr/>
        </p:nvSpPr>
        <p:spPr>
          <a:xfrm>
            <a:off x="1188720" y="1737360"/>
            <a:ext cx="4572000" cy="365760"/>
          </a:xfrm>
          <a:prstGeom prst="rect">
            <a:avLst/>
          </a:prstGeom>
          <a:noFill/>
        </p:spPr>
        <p:txBody>
          <a:bodyPr wrap="square">
            <a:spAutoFit/>
          </a:bodyPr>
          <a:lstStyle/>
          <a:p>
            <a:pPr algn="l">
              <a:defRPr sz="1100" b="0">
                <a:solidFill>
                  <a:srgbClr val="4A4A4A"/>
                </a:solidFill>
                <a:latin typeface="Calibri"/>
              </a:defRPr>
            </a:pPr>
            <a:r>
              <a:t>In RStudio, go to File → New File → R Script. A blank editor opens.</a:t>
            </a:r>
          </a:p>
        </p:txBody>
      </p:sp>
      <p:sp>
        <p:nvSpPr>
          <p:cNvPr id="8" name="Oval 7"/>
          <p:cNvSpPr/>
          <p:nvPr/>
        </p:nvSpPr>
        <p:spPr>
          <a:xfrm>
            <a:off x="640080" y="22860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2</a:t>
            </a:r>
          </a:p>
        </p:txBody>
      </p:sp>
      <p:sp>
        <p:nvSpPr>
          <p:cNvPr id="9" name="TextBox 8"/>
          <p:cNvSpPr txBox="1"/>
          <p:nvPr/>
        </p:nvSpPr>
        <p:spPr>
          <a:xfrm>
            <a:off x="1188720" y="2286000"/>
            <a:ext cx="4572000" cy="365760"/>
          </a:xfrm>
          <a:prstGeom prst="rect">
            <a:avLst/>
          </a:prstGeom>
          <a:noFill/>
        </p:spPr>
        <p:txBody>
          <a:bodyPr wrap="square">
            <a:spAutoFit/>
          </a:bodyPr>
          <a:lstStyle/>
          <a:p>
            <a:pPr algn="l">
              <a:defRPr sz="1600" b="1">
                <a:solidFill>
                  <a:srgbClr val="0F3C6B"/>
                </a:solidFill>
                <a:latin typeface="Calibri"/>
              </a:defRPr>
            </a:pPr>
            <a:r>
              <a:t>Type your code</a:t>
            </a:r>
          </a:p>
        </p:txBody>
      </p:sp>
      <p:sp>
        <p:nvSpPr>
          <p:cNvPr id="10" name="TextBox 9"/>
          <p:cNvSpPr txBox="1"/>
          <p:nvPr/>
        </p:nvSpPr>
        <p:spPr>
          <a:xfrm>
            <a:off x="1188720" y="2651760"/>
            <a:ext cx="4572000" cy="365760"/>
          </a:xfrm>
          <a:prstGeom prst="rect">
            <a:avLst/>
          </a:prstGeom>
          <a:noFill/>
        </p:spPr>
        <p:txBody>
          <a:bodyPr wrap="square">
            <a:spAutoFit/>
          </a:bodyPr>
          <a:lstStyle/>
          <a:p>
            <a:pPr algn="l">
              <a:defRPr sz="1100" b="0">
                <a:solidFill>
                  <a:srgbClr val="4A4A4A"/>
                </a:solidFill>
                <a:latin typeface="Calibri"/>
              </a:defRPr>
            </a:pPr>
            <a:r>
              <a:t>In the script editor, type: print("Hello, World!"). You can also write: 2 + 2</a:t>
            </a:r>
          </a:p>
        </p:txBody>
      </p:sp>
      <p:sp>
        <p:nvSpPr>
          <p:cNvPr id="11" name="Oval 10"/>
          <p:cNvSpPr/>
          <p:nvPr/>
        </p:nvSpPr>
        <p:spPr>
          <a:xfrm>
            <a:off x="640080" y="32004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3</a:t>
            </a:r>
          </a:p>
        </p:txBody>
      </p:sp>
      <p:sp>
        <p:nvSpPr>
          <p:cNvPr id="12" name="TextBox 11"/>
          <p:cNvSpPr txBox="1"/>
          <p:nvPr/>
        </p:nvSpPr>
        <p:spPr>
          <a:xfrm>
            <a:off x="1188720" y="3200400"/>
            <a:ext cx="4572000" cy="365760"/>
          </a:xfrm>
          <a:prstGeom prst="rect">
            <a:avLst/>
          </a:prstGeom>
          <a:noFill/>
        </p:spPr>
        <p:txBody>
          <a:bodyPr wrap="square">
            <a:spAutoFit/>
          </a:bodyPr>
          <a:lstStyle/>
          <a:p>
            <a:pPr algn="l">
              <a:defRPr sz="1600" b="1">
                <a:solidFill>
                  <a:srgbClr val="0F3C6B"/>
                </a:solidFill>
                <a:latin typeface="Calibri"/>
              </a:defRPr>
            </a:pPr>
            <a:r>
              <a:t>Run the code</a:t>
            </a:r>
          </a:p>
        </p:txBody>
      </p:sp>
      <p:sp>
        <p:nvSpPr>
          <p:cNvPr id="13" name="TextBox 12"/>
          <p:cNvSpPr txBox="1"/>
          <p:nvPr/>
        </p:nvSpPr>
        <p:spPr>
          <a:xfrm>
            <a:off x="1188720" y="3566160"/>
            <a:ext cx="4572000" cy="365760"/>
          </a:xfrm>
          <a:prstGeom prst="rect">
            <a:avLst/>
          </a:prstGeom>
          <a:noFill/>
        </p:spPr>
        <p:txBody>
          <a:bodyPr wrap="square">
            <a:spAutoFit/>
          </a:bodyPr>
          <a:lstStyle/>
          <a:p>
            <a:pPr algn="l">
              <a:defRPr sz="1100" b="0">
                <a:solidFill>
                  <a:srgbClr val="4A4A4A"/>
                </a:solidFill>
                <a:latin typeface="Calibri"/>
              </a:defRPr>
            </a:pPr>
            <a:r>
              <a:t>Place cursor on the line and press Ctrl+Enter (or click 'Run'). The output appears in the Console.</a:t>
            </a:r>
          </a:p>
        </p:txBody>
      </p:sp>
      <p:sp>
        <p:nvSpPr>
          <p:cNvPr id="14" name="Oval 13"/>
          <p:cNvSpPr/>
          <p:nvPr/>
        </p:nvSpPr>
        <p:spPr>
          <a:xfrm>
            <a:off x="640080" y="4114800"/>
            <a:ext cx="365760" cy="36576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latin typeface="Calibri"/>
              </a:defRPr>
            </a:pPr>
            <a:r>
              <a:t>4</a:t>
            </a:r>
          </a:p>
        </p:txBody>
      </p:sp>
      <p:sp>
        <p:nvSpPr>
          <p:cNvPr id="15" name="TextBox 14"/>
          <p:cNvSpPr txBox="1"/>
          <p:nvPr/>
        </p:nvSpPr>
        <p:spPr>
          <a:xfrm>
            <a:off x="1188720" y="4114800"/>
            <a:ext cx="4572000" cy="365760"/>
          </a:xfrm>
          <a:prstGeom prst="rect">
            <a:avLst/>
          </a:prstGeom>
          <a:noFill/>
        </p:spPr>
        <p:txBody>
          <a:bodyPr wrap="square">
            <a:spAutoFit/>
          </a:bodyPr>
          <a:lstStyle/>
          <a:p>
            <a:pPr algn="l">
              <a:defRPr sz="1600" b="1">
                <a:solidFill>
                  <a:srgbClr val="0F3C6B"/>
                </a:solidFill>
                <a:latin typeface="Calibri"/>
              </a:defRPr>
            </a:pPr>
            <a:r>
              <a:t>Congratulations! 🎉</a:t>
            </a:r>
          </a:p>
        </p:txBody>
      </p:sp>
      <p:sp>
        <p:nvSpPr>
          <p:cNvPr id="16" name="TextBox 15"/>
          <p:cNvSpPr txBox="1"/>
          <p:nvPr/>
        </p:nvSpPr>
        <p:spPr>
          <a:xfrm>
            <a:off x="1188720" y="4480560"/>
            <a:ext cx="4572000" cy="365760"/>
          </a:xfrm>
          <a:prstGeom prst="rect">
            <a:avLst/>
          </a:prstGeom>
          <a:noFill/>
        </p:spPr>
        <p:txBody>
          <a:bodyPr wrap="square">
            <a:spAutoFit/>
          </a:bodyPr>
          <a:lstStyle/>
          <a:p>
            <a:pPr algn="l">
              <a:defRPr sz="1100" b="0">
                <a:solidFill>
                  <a:srgbClr val="4A4A4A"/>
                </a:solidFill>
                <a:latin typeface="Calibri"/>
              </a:defRPr>
            </a:pPr>
            <a:r>
              <a:t>You've successfully set up R and RStudio and run your first program.</a:t>
            </a:r>
          </a:p>
        </p:txBody>
      </p:sp>
      <p:sp>
        <p:nvSpPr>
          <p:cNvPr id="17" name="Rounded Rectangle 16"/>
          <p:cNvSpPr/>
          <p:nvPr/>
        </p:nvSpPr>
        <p:spPr>
          <a:xfrm>
            <a:off x="6400800" y="1371600"/>
            <a:ext cx="5303520" cy="1828800"/>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1463040"/>
            <a:ext cx="4937760" cy="274320"/>
          </a:xfrm>
          <a:prstGeom prst="rect">
            <a:avLst/>
          </a:prstGeom>
          <a:noFill/>
        </p:spPr>
        <p:txBody>
          <a:bodyPr wrap="square">
            <a:spAutoFit/>
          </a:bodyPr>
          <a:lstStyle/>
          <a:p>
            <a:pPr algn="l">
              <a:defRPr sz="900" b="1">
                <a:solidFill>
                  <a:srgbClr val="4A4A4A"/>
                </a:solidFill>
                <a:latin typeface="Calibri"/>
              </a:defRPr>
            </a:pPr>
            <a:r>
              <a:t>Untitled1* – Script Editor</a:t>
            </a:r>
          </a:p>
        </p:txBody>
      </p:sp>
      <p:sp>
        <p:nvSpPr>
          <p:cNvPr id="19" name="TextBox 18"/>
          <p:cNvSpPr txBox="1"/>
          <p:nvPr/>
        </p:nvSpPr>
        <p:spPr>
          <a:xfrm>
            <a:off x="6583680" y="1828800"/>
            <a:ext cx="4937760" cy="1188720"/>
          </a:xfrm>
          <a:prstGeom prst="rect">
            <a:avLst/>
          </a:prstGeom>
          <a:noFill/>
        </p:spPr>
        <p:txBody>
          <a:bodyPr wrap="square">
            <a:spAutoFit/>
          </a:bodyPr>
          <a:lstStyle/>
          <a:p>
            <a:pPr algn="l">
              <a:defRPr sz="1200" b="0">
                <a:solidFill>
                  <a:srgbClr val="1A1A1A"/>
                </a:solidFill>
                <a:latin typeface="Consolas"/>
              </a:defRPr>
            </a:pPr>
            <a:r>
              <a:t>print("Hello, World!")</a:t>
            </a:r>
            <a:br/>
            <a:r>
              <a:t>2 + 2</a:t>
            </a:r>
            <a:br/>
            <a:r>
              <a:t># This is a comment</a:t>
            </a:r>
          </a:p>
        </p:txBody>
      </p:sp>
      <p:sp>
        <p:nvSpPr>
          <p:cNvPr id="20" name="Rounded Rectangle 19"/>
          <p:cNvSpPr/>
          <p:nvPr/>
        </p:nvSpPr>
        <p:spPr>
          <a:xfrm>
            <a:off x="6400800" y="3383280"/>
            <a:ext cx="5303520" cy="1371600"/>
          </a:xfrm>
          <a:prstGeom prst="roundRect">
            <a:avLst/>
          </a:prstGeom>
          <a:solidFill>
            <a:srgbClr val="F7F7F7"/>
          </a:solidFill>
          <a:ln>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3474720"/>
            <a:ext cx="4937760" cy="274320"/>
          </a:xfrm>
          <a:prstGeom prst="rect">
            <a:avLst/>
          </a:prstGeom>
          <a:noFill/>
        </p:spPr>
        <p:txBody>
          <a:bodyPr wrap="square">
            <a:spAutoFit/>
          </a:bodyPr>
          <a:lstStyle/>
          <a:p>
            <a:pPr algn="l">
              <a:defRPr sz="900" b="1">
                <a:solidFill>
                  <a:srgbClr val="4A4A4A"/>
                </a:solidFill>
                <a:latin typeface="Calibri"/>
              </a:defRPr>
            </a:pPr>
            <a:r>
              <a:t>R Console</a:t>
            </a:r>
          </a:p>
        </p:txBody>
      </p:sp>
      <p:sp>
        <p:nvSpPr>
          <p:cNvPr id="22" name="TextBox 21"/>
          <p:cNvSpPr txBox="1"/>
          <p:nvPr/>
        </p:nvSpPr>
        <p:spPr>
          <a:xfrm>
            <a:off x="6583680" y="3794760"/>
            <a:ext cx="4937760" cy="822960"/>
          </a:xfrm>
          <a:prstGeom prst="rect">
            <a:avLst/>
          </a:prstGeom>
          <a:noFill/>
        </p:spPr>
        <p:txBody>
          <a:bodyPr wrap="square">
            <a:spAutoFit/>
          </a:bodyPr>
          <a:lstStyle/>
          <a:p>
            <a:pPr algn="l">
              <a:defRPr sz="1100" b="0">
                <a:solidFill>
                  <a:srgbClr val="1A1A1A"/>
                </a:solidFill>
                <a:latin typeface="Consolas"/>
              </a:defRPr>
            </a:pPr>
            <a:r>
              <a:t>&gt; print("Hello, World!")</a:t>
            </a:r>
            <a:br/>
            <a:r>
              <a:t>[1] "Hello, World!"</a:t>
            </a:r>
            <a:br/>
            <a:r>
              <a:t>&gt; 2 + 2</a:t>
            </a:r>
            <a:br/>
            <a:r>
              <a:t>[1] 4</a:t>
            </a:r>
          </a:p>
        </p:txBody>
      </p:sp>
      <p:sp>
        <p:nvSpPr>
          <p:cNvPr id="23" name="Rounded Rectangle 22"/>
          <p:cNvSpPr/>
          <p:nvPr/>
        </p:nvSpPr>
        <p:spPr>
          <a:xfrm>
            <a:off x="7772400" y="4937760"/>
            <a:ext cx="731520" cy="320040"/>
          </a:xfrm>
          <a:prstGeom prst="roundRect">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18120" y="4965192"/>
            <a:ext cx="640080" cy="256032"/>
          </a:xfrm>
          <a:prstGeom prst="rect">
            <a:avLst/>
          </a:prstGeom>
          <a:noFill/>
        </p:spPr>
        <p:txBody>
          <a:bodyPr wrap="square">
            <a:spAutoFit/>
          </a:bodyPr>
          <a:lstStyle/>
          <a:p>
            <a:pPr algn="l">
              <a:defRPr sz="800" b="1">
                <a:solidFill>
                  <a:srgbClr val="FFFFFF"/>
                </a:solidFill>
                <a:latin typeface="Calibri"/>
              </a:defRPr>
            </a:pPr>
            <a:r>
              <a:t>Run ▶</a:t>
            </a:r>
          </a:p>
        </p:txBody>
      </p:sp>
      <p:sp>
        <p:nvSpPr>
          <p:cNvPr id="25" name="Rounded Rectangle 24"/>
          <p:cNvSpPr/>
          <p:nvPr/>
        </p:nvSpPr>
        <p:spPr>
          <a:xfrm>
            <a:off x="8595360" y="4846320"/>
            <a:ext cx="2743200" cy="50292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latin typeface="Calibri"/>
              </a:defRPr>
            </a:pPr>
            <a:r>
              <a:t>Press Ctrl+Enter (⌘+Enter)</a:t>
            </a:r>
            <a:br/>
            <a:r>
              <a:t>to run the current line.</a:t>
            </a:r>
          </a:p>
        </p:txBody>
      </p:sp>
      <p:sp>
        <p:nvSpPr>
          <p:cNvPr id="26" name="Rectangle 25"/>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7" name="TextBox 26"/>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Common Problems and Solutions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Troubleshooting your R and RStudio setup</a:t>
            </a:r>
          </a:p>
        </p:txBody>
      </p:sp>
      <p:graphicFrame>
        <p:nvGraphicFramePr>
          <p:cNvPr id="5" name="Table 4"/>
          <p:cNvGraphicFramePr>
            <a:graphicFrameLocks noGrp="1"/>
          </p:cNvGraphicFramePr>
          <p:nvPr/>
        </p:nvGraphicFramePr>
        <p:xfrm>
          <a:off x="457200" y="1371600"/>
          <a:ext cx="1124712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628650">
                <a:tc>
                  <a:txBody>
                    <a:bodyPr/>
                    <a:lstStyle/>
                    <a:p>
                      <a:pPr>
                        <a:defRPr sz="1100" b="1">
                          <a:solidFill>
                            <a:srgbClr val="FFFFFF"/>
                          </a:solidFill>
                          <a:latin typeface="Calibri"/>
                        </a:defRPr>
                      </a:pPr>
                      <a:r>
                        <a:t>Problem</a:t>
                      </a:r>
                    </a:p>
                  </a:txBody>
                  <a:tcPr anchor="ctr">
                    <a:solidFill>
                      <a:srgbClr val="0F3C6B"/>
                    </a:solidFill>
                  </a:tcPr>
                </a:tc>
                <a:tc>
                  <a:txBody>
                    <a:bodyPr/>
                    <a:lstStyle/>
                    <a:p>
                      <a:pPr>
                        <a:defRPr sz="1100" b="1">
                          <a:solidFill>
                            <a:srgbClr val="FFFFFF"/>
                          </a:solidFill>
                          <a:latin typeface="Calibri"/>
                        </a:defRPr>
                      </a:pPr>
                      <a:r>
                        <a:t>Cause</a:t>
                      </a:r>
                    </a:p>
                  </a:txBody>
                  <a:tcPr anchor="ctr">
                    <a:solidFill>
                      <a:srgbClr val="0F3C6B"/>
                    </a:solidFill>
                  </a:tcPr>
                </a:tc>
                <a:tc>
                  <a:txBody>
                    <a:bodyPr/>
                    <a:lstStyle/>
                    <a:p>
                      <a:pPr>
                        <a:defRPr sz="1100" b="1">
                          <a:solidFill>
                            <a:srgbClr val="FFFFFF"/>
                          </a:solidFill>
                          <a:latin typeface="Calibri"/>
                        </a:defRPr>
                      </a:pPr>
                      <a:r>
                        <a:t>Solution</a:t>
                      </a:r>
                    </a:p>
                  </a:txBody>
                  <a:tcPr anchor="ctr">
                    <a:solidFill>
                      <a:srgbClr val="0F3C6B"/>
                    </a:solidFill>
                  </a:tcPr>
                </a:tc>
                <a:extLst>
                  <a:ext uri="{0D108BD9-81ED-4DB2-BD59-A6C34878D82A}">
                    <a16:rowId xmlns:a16="http://schemas.microsoft.com/office/drawing/2014/main" val="10000"/>
                  </a:ext>
                </a:extLst>
              </a:tr>
              <a:tr h="628650">
                <a:tc>
                  <a:txBody>
                    <a:bodyPr/>
                    <a:lstStyle/>
                    <a:p>
                      <a:pPr>
                        <a:defRPr sz="1000" b="1">
                          <a:solidFill>
                            <a:srgbClr val="0F3C6B"/>
                          </a:solidFill>
                          <a:latin typeface="Calibri"/>
                        </a:defRPr>
                      </a:pPr>
                      <a:r>
                        <a:t>R installer won't start (Windows)</a:t>
                      </a:r>
                    </a:p>
                  </a:txBody>
                  <a:tcPr anchor="ctr">
                    <a:solidFill>
                      <a:srgbClr val="FFFFFF"/>
                    </a:solidFill>
                  </a:tcPr>
                </a:tc>
                <a:tc>
                  <a:txBody>
                    <a:bodyPr/>
                    <a:lstStyle/>
                    <a:p>
                      <a:pPr>
                        <a:defRPr sz="1000">
                          <a:solidFill>
                            <a:srgbClr val="1A1A1A"/>
                          </a:solidFill>
                          <a:latin typeface="Calibri"/>
                        </a:defRPr>
                      </a:pPr>
                      <a:r>
                        <a:t>Antivirus or User Account Control</a:t>
                      </a:r>
                    </a:p>
                  </a:txBody>
                  <a:tcPr anchor="ctr">
                    <a:solidFill>
                      <a:srgbClr val="FFFFFF"/>
                    </a:solidFill>
                  </a:tcPr>
                </a:tc>
                <a:tc>
                  <a:txBody>
                    <a:bodyPr/>
                    <a:lstStyle/>
                    <a:p>
                      <a:pPr>
                        <a:defRPr sz="1000">
                          <a:solidFill>
                            <a:srgbClr val="1A1A1A"/>
                          </a:solidFill>
                          <a:latin typeface="Calibri"/>
                        </a:defRPr>
                      </a:pPr>
                      <a:r>
                        <a:t>Right‑click the .exe → Run as Administrator. Temporarily disable antivirus if needed.</a:t>
                      </a:r>
                    </a:p>
                  </a:txBody>
                  <a:tcPr anchor="ctr">
                    <a:solidFill>
                      <a:srgbClr val="FFFFFF"/>
                    </a:solidFill>
                  </a:tcPr>
                </a:tc>
                <a:extLst>
                  <a:ext uri="{0D108BD9-81ED-4DB2-BD59-A6C34878D82A}">
                    <a16:rowId xmlns:a16="http://schemas.microsoft.com/office/drawing/2014/main" val="10001"/>
                  </a:ext>
                </a:extLst>
              </a:tr>
              <a:tr h="628650">
                <a:tc>
                  <a:txBody>
                    <a:bodyPr/>
                    <a:lstStyle/>
                    <a:p>
                      <a:pPr>
                        <a:defRPr sz="1000" b="1">
                          <a:solidFill>
                            <a:srgbClr val="0F3C6B"/>
                          </a:solidFill>
                          <a:latin typeface="Calibri"/>
                        </a:defRPr>
                      </a:pPr>
                      <a:r>
                        <a:t>R package installation fails</a:t>
                      </a:r>
                    </a:p>
                  </a:txBody>
                  <a:tcPr anchor="ctr">
                    <a:solidFill>
                      <a:srgbClr val="E8EFF5"/>
                    </a:solidFill>
                  </a:tcPr>
                </a:tc>
                <a:tc>
                  <a:txBody>
                    <a:bodyPr/>
                    <a:lstStyle/>
                    <a:p>
                      <a:pPr>
                        <a:defRPr sz="1000">
                          <a:solidFill>
                            <a:srgbClr val="1A1A1A"/>
                          </a:solidFill>
                          <a:latin typeface="Calibri"/>
                        </a:defRPr>
                      </a:pPr>
                      <a:r>
                        <a:t>Missing tools or permissions</a:t>
                      </a:r>
                    </a:p>
                  </a:txBody>
                  <a:tcPr anchor="ctr">
                    <a:solidFill>
                      <a:srgbClr val="E8EFF5"/>
                    </a:solidFill>
                  </a:tcPr>
                </a:tc>
                <a:tc>
                  <a:txBody>
                    <a:bodyPr/>
                    <a:lstStyle/>
                    <a:p>
                      <a:pPr>
                        <a:defRPr sz="1000">
                          <a:solidFill>
                            <a:srgbClr val="1A1A1A"/>
                          </a:solidFill>
                          <a:latin typeface="Calibri"/>
                        </a:defRPr>
                      </a:pPr>
                      <a:r>
                        <a:t>Run RStudio as Administrator. On Windows, install Rtools (from CRAN). On Mac, install Xcode Command Line Tools.</a:t>
                      </a:r>
                    </a:p>
                  </a:txBody>
                  <a:tcPr anchor="ctr">
                    <a:solidFill>
                      <a:srgbClr val="E8EFF5"/>
                    </a:solidFill>
                  </a:tcPr>
                </a:tc>
                <a:extLst>
                  <a:ext uri="{0D108BD9-81ED-4DB2-BD59-A6C34878D82A}">
                    <a16:rowId xmlns:a16="http://schemas.microsoft.com/office/drawing/2014/main" val="10002"/>
                  </a:ext>
                </a:extLst>
              </a:tr>
              <a:tr h="628650">
                <a:tc>
                  <a:txBody>
                    <a:bodyPr/>
                    <a:lstStyle/>
                    <a:p>
                      <a:pPr>
                        <a:defRPr sz="1000" b="1">
                          <a:solidFill>
                            <a:srgbClr val="0F3C6B"/>
                          </a:solidFill>
                          <a:latin typeface="Calibri"/>
                        </a:defRPr>
                      </a:pPr>
                      <a:r>
                        <a:t>RStudio cannot find R</a:t>
                      </a:r>
                    </a:p>
                  </a:txBody>
                  <a:tcPr anchor="ctr">
                    <a:solidFill>
                      <a:srgbClr val="FFFFFF"/>
                    </a:solidFill>
                  </a:tcPr>
                </a:tc>
                <a:tc>
                  <a:txBody>
                    <a:bodyPr/>
                    <a:lstStyle/>
                    <a:p>
                      <a:pPr>
                        <a:defRPr sz="1000">
                          <a:solidFill>
                            <a:srgbClr val="1A1A1A"/>
                          </a:solidFill>
                          <a:latin typeface="Calibri"/>
                        </a:defRPr>
                      </a:pPr>
                      <a:r>
                        <a:t>R not installed or path not set</a:t>
                      </a:r>
                    </a:p>
                  </a:txBody>
                  <a:tcPr anchor="ctr">
                    <a:solidFill>
                      <a:srgbClr val="FFFFFF"/>
                    </a:solidFill>
                  </a:tcPr>
                </a:tc>
                <a:tc>
                  <a:txBody>
                    <a:bodyPr/>
                    <a:lstStyle/>
                    <a:p>
                      <a:pPr>
                        <a:defRPr sz="1000">
                          <a:solidFill>
                            <a:srgbClr val="1A1A1A"/>
                          </a:solidFill>
                          <a:latin typeface="Calibri"/>
                        </a:defRPr>
                      </a:pPr>
                      <a:r>
                        <a:t>Reinstall R. Ensure 'Register R's path' was checked during installation. Restart RStudio.</a:t>
                      </a:r>
                    </a:p>
                  </a:txBody>
                  <a:tcPr anchor="ctr">
                    <a:solidFill>
                      <a:srgbClr val="FFFFFF"/>
                    </a:solidFill>
                  </a:tcPr>
                </a:tc>
                <a:extLst>
                  <a:ext uri="{0D108BD9-81ED-4DB2-BD59-A6C34878D82A}">
                    <a16:rowId xmlns:a16="http://schemas.microsoft.com/office/drawing/2014/main" val="10003"/>
                  </a:ext>
                </a:extLst>
              </a:tr>
              <a:tr h="628650">
                <a:tc>
                  <a:txBody>
                    <a:bodyPr/>
                    <a:lstStyle/>
                    <a:p>
                      <a:pPr>
                        <a:defRPr sz="1000" b="1">
                          <a:solidFill>
                            <a:srgbClr val="0F3C6B"/>
                          </a:solidFill>
                          <a:latin typeface="Calibri"/>
                        </a:defRPr>
                      </a:pPr>
                      <a:r>
                        <a:t>Console error: 'could not find function'</a:t>
                      </a:r>
                    </a:p>
                  </a:txBody>
                  <a:tcPr anchor="ctr">
                    <a:solidFill>
                      <a:srgbClr val="E8EFF5"/>
                    </a:solidFill>
                  </a:tcPr>
                </a:tc>
                <a:tc>
                  <a:txBody>
                    <a:bodyPr/>
                    <a:lstStyle/>
                    <a:p>
                      <a:pPr>
                        <a:defRPr sz="1000">
                          <a:solidFill>
                            <a:srgbClr val="1A1A1A"/>
                          </a:solidFill>
                          <a:latin typeface="Calibri"/>
                        </a:defRPr>
                      </a:pPr>
                      <a:r>
                        <a:t>Package not loaded</a:t>
                      </a:r>
                    </a:p>
                  </a:txBody>
                  <a:tcPr anchor="ctr">
                    <a:solidFill>
                      <a:srgbClr val="E8EFF5"/>
                    </a:solidFill>
                  </a:tcPr>
                </a:tc>
                <a:tc>
                  <a:txBody>
                    <a:bodyPr/>
                    <a:lstStyle/>
                    <a:p>
                      <a:pPr>
                        <a:defRPr sz="1000">
                          <a:solidFill>
                            <a:srgbClr val="1A1A1A"/>
                          </a:solidFill>
                          <a:latin typeface="Calibri"/>
                        </a:defRPr>
                      </a:pPr>
                      <a:r>
                        <a:t>Use library(package_name) to load a package. Install with install.packages('pkg') first.</a:t>
                      </a:r>
                    </a:p>
                  </a:txBody>
                  <a:tcPr anchor="ctr">
                    <a:solidFill>
                      <a:srgbClr val="E8EFF5"/>
                    </a:solidFill>
                  </a:tcPr>
                </a:tc>
                <a:extLst>
                  <a:ext uri="{0D108BD9-81ED-4DB2-BD59-A6C34878D82A}">
                    <a16:rowId xmlns:a16="http://schemas.microsoft.com/office/drawing/2014/main" val="10004"/>
                  </a:ext>
                </a:extLst>
              </a:tr>
              <a:tr h="628650">
                <a:tc>
                  <a:txBody>
                    <a:bodyPr/>
                    <a:lstStyle/>
                    <a:p>
                      <a:pPr>
                        <a:defRPr sz="1000" b="1">
                          <a:solidFill>
                            <a:srgbClr val="0F3C6B"/>
                          </a:solidFill>
                          <a:latin typeface="Calibri"/>
                        </a:defRPr>
                      </a:pPr>
                      <a:r>
                        <a:t>Permission denied when installing packages</a:t>
                      </a:r>
                    </a:p>
                  </a:txBody>
                  <a:tcPr anchor="ctr">
                    <a:solidFill>
                      <a:srgbClr val="FFFFFF"/>
                    </a:solidFill>
                  </a:tcPr>
                </a:tc>
                <a:tc>
                  <a:txBody>
                    <a:bodyPr/>
                    <a:lstStyle/>
                    <a:p>
                      <a:pPr>
                        <a:defRPr sz="1000">
                          <a:solidFill>
                            <a:srgbClr val="1A1A1A"/>
                          </a:solidFill>
                          <a:latin typeface="Calibri"/>
                        </a:defRPr>
                      </a:pPr>
                      <a:r>
                        <a:t>No write access to library folder</a:t>
                      </a:r>
                    </a:p>
                  </a:txBody>
                  <a:tcPr anchor="ctr">
                    <a:solidFill>
                      <a:srgbClr val="FFFFFF"/>
                    </a:solidFill>
                  </a:tcPr>
                </a:tc>
                <a:tc>
                  <a:txBody>
                    <a:bodyPr/>
                    <a:lstStyle/>
                    <a:p>
                      <a:pPr>
                        <a:defRPr sz="1000">
                          <a:solidFill>
                            <a:srgbClr val="1A1A1A"/>
                          </a:solidFill>
                          <a:latin typeface="Calibri"/>
                        </a:defRPr>
                      </a:pPr>
                      <a:r>
                        <a:t>On Windows, run RStudio as Administrator. On Mac/Linux, install to a user library or use sudo.</a:t>
                      </a:r>
                    </a:p>
                  </a:txBody>
                  <a:tcPr anchor="ctr">
                    <a:solidFill>
                      <a:srgbClr val="FFFFFF"/>
                    </a:solidFill>
                  </a:tcPr>
                </a:tc>
                <a:extLst>
                  <a:ext uri="{0D108BD9-81ED-4DB2-BD59-A6C34878D82A}">
                    <a16:rowId xmlns:a16="http://schemas.microsoft.com/office/drawing/2014/main" val="10005"/>
                  </a:ext>
                </a:extLst>
              </a:tr>
              <a:tr h="628650">
                <a:tc>
                  <a:txBody>
                    <a:bodyPr/>
                    <a:lstStyle/>
                    <a:p>
                      <a:pPr>
                        <a:defRPr sz="1000" b="1">
                          <a:solidFill>
                            <a:srgbClr val="0F3C6B"/>
                          </a:solidFill>
                          <a:latin typeface="Calibri"/>
                        </a:defRPr>
                      </a:pPr>
                      <a:r>
                        <a:t>Plots not displaying</a:t>
                      </a:r>
                    </a:p>
                  </a:txBody>
                  <a:tcPr anchor="ctr">
                    <a:solidFill>
                      <a:srgbClr val="E8EFF5"/>
                    </a:solidFill>
                  </a:tcPr>
                </a:tc>
                <a:tc>
                  <a:txBody>
                    <a:bodyPr/>
                    <a:lstStyle/>
                    <a:p>
                      <a:pPr>
                        <a:defRPr sz="1000">
                          <a:solidFill>
                            <a:srgbClr val="1A1A1A"/>
                          </a:solidFill>
                          <a:latin typeface="Calibri"/>
                        </a:defRPr>
                      </a:pPr>
                      <a:r>
                        <a:t>Graphics device issue</a:t>
                      </a:r>
                    </a:p>
                  </a:txBody>
                  <a:tcPr anchor="ctr">
                    <a:solidFill>
                      <a:srgbClr val="E8EFF5"/>
                    </a:solidFill>
                  </a:tcPr>
                </a:tc>
                <a:tc>
                  <a:txBody>
                    <a:bodyPr/>
                    <a:lstStyle/>
                    <a:p>
                      <a:pPr>
                        <a:defRPr sz="1000">
                          <a:solidFill>
                            <a:srgbClr val="1A1A1A"/>
                          </a:solidFill>
                          <a:latin typeface="Calibri"/>
                        </a:defRPr>
                      </a:pPr>
                      <a:r>
                        <a:t>Ensure the Plots pane is active. Try dev.off() and replot. Check that no other graphics window is open.</a:t>
                      </a:r>
                    </a:p>
                  </a:txBody>
                  <a:tcPr anchor="ctr">
                    <a:solidFill>
                      <a:srgbClr val="E8EFF5"/>
                    </a:solidFill>
                  </a:tcPr>
                </a:tc>
                <a:extLst>
                  <a:ext uri="{0D108BD9-81ED-4DB2-BD59-A6C34878D82A}">
                    <a16:rowId xmlns:a16="http://schemas.microsoft.com/office/drawing/2014/main" val="10006"/>
                  </a:ext>
                </a:extLst>
              </a:tr>
              <a:tr h="628650">
                <a:tc>
                  <a:txBody>
                    <a:bodyPr/>
                    <a:lstStyle/>
                    <a:p>
                      <a:pPr>
                        <a:defRPr sz="1000" b="1">
                          <a:solidFill>
                            <a:srgbClr val="0F3C6B"/>
                          </a:solidFill>
                          <a:latin typeface="Calibri"/>
                        </a:defRPr>
                      </a:pPr>
                      <a:r>
                        <a:t>RStudio blank or crashes on startup</a:t>
                      </a:r>
                    </a:p>
                  </a:txBody>
                  <a:tcPr anchor="ctr">
                    <a:solidFill>
                      <a:srgbClr val="FFFFFF"/>
                    </a:solidFill>
                  </a:tcPr>
                </a:tc>
                <a:tc>
                  <a:txBody>
                    <a:bodyPr/>
                    <a:lstStyle/>
                    <a:p>
                      <a:pPr>
                        <a:defRPr sz="1000">
                          <a:solidFill>
                            <a:srgbClr val="1A1A1A"/>
                          </a:solidFill>
                          <a:latin typeface="Calibri"/>
                        </a:defRPr>
                      </a:pPr>
                      <a:r>
                        <a:t>Corrupt configuration</a:t>
                      </a:r>
                    </a:p>
                  </a:txBody>
                  <a:tcPr anchor="ctr">
                    <a:solidFill>
                      <a:srgbClr val="FFFFFF"/>
                    </a:solidFill>
                  </a:tcPr>
                </a:tc>
                <a:tc>
                  <a:txBody>
                    <a:bodyPr/>
                    <a:lstStyle/>
                    <a:p>
                      <a:pPr>
                        <a:defRPr sz="1000">
                          <a:solidFill>
                            <a:srgbClr val="1A1A1A"/>
                          </a:solidFill>
                          <a:latin typeface="Calibri"/>
                        </a:defRPr>
                      </a:pPr>
                      <a:r>
                        <a:t>Reset RStudio's state: close RStudio, navigate to %localappdata%\RStudio-Desktop (Windows) or ~/.local/share/rstudio (Mac/Linux) and rename the folder.</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7" name="TextBox 6"/>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Why R is Essential for Statisticians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The language that powers modern data analysis</a:t>
            </a:r>
          </a:p>
        </p:txBody>
      </p:sp>
      <p:sp>
        <p:nvSpPr>
          <p:cNvPr id="5" name="TextBox 4"/>
          <p:cNvSpPr txBox="1"/>
          <p:nvPr/>
        </p:nvSpPr>
        <p:spPr>
          <a:xfrm>
            <a:off x="1097280" y="137160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6" name="TextBox 5"/>
          <p:cNvSpPr txBox="1"/>
          <p:nvPr/>
        </p:nvSpPr>
        <p:spPr>
          <a:xfrm>
            <a:off x="1554480" y="1371600"/>
            <a:ext cx="1828800" cy="274320"/>
          </a:xfrm>
          <a:prstGeom prst="rect">
            <a:avLst/>
          </a:prstGeom>
          <a:noFill/>
        </p:spPr>
        <p:txBody>
          <a:bodyPr wrap="square">
            <a:spAutoFit/>
          </a:bodyPr>
          <a:lstStyle/>
          <a:p>
            <a:pPr algn="l">
              <a:defRPr sz="1100" b="1">
                <a:solidFill>
                  <a:srgbClr val="0F3C6B"/>
                </a:solidFill>
                <a:latin typeface="Calibri"/>
              </a:defRPr>
            </a:pPr>
            <a:r>
              <a:t>Data Analysis</a:t>
            </a:r>
          </a:p>
        </p:txBody>
      </p:sp>
      <p:sp>
        <p:nvSpPr>
          <p:cNvPr id="7" name="TextBox 6"/>
          <p:cNvSpPr txBox="1"/>
          <p:nvPr/>
        </p:nvSpPr>
        <p:spPr>
          <a:xfrm>
            <a:off x="1554480" y="1645920"/>
            <a:ext cx="1828800" cy="1097280"/>
          </a:xfrm>
          <a:prstGeom prst="rect">
            <a:avLst/>
          </a:prstGeom>
          <a:noFill/>
        </p:spPr>
        <p:txBody>
          <a:bodyPr wrap="square">
            <a:spAutoFit/>
          </a:bodyPr>
          <a:lstStyle/>
          <a:p>
            <a:pPr algn="l">
              <a:defRPr sz="900" b="0">
                <a:solidFill>
                  <a:srgbClr val="4A4A4A"/>
                </a:solidFill>
                <a:latin typeface="Calibri Light"/>
              </a:defRPr>
            </a:pPr>
            <a:r>
              <a:t>Summary statistics, hypothesis tests, ANOVA</a:t>
            </a:r>
          </a:p>
        </p:txBody>
      </p:sp>
      <p:sp>
        <p:nvSpPr>
          <p:cNvPr id="8" name="TextBox 7"/>
          <p:cNvSpPr txBox="1"/>
          <p:nvPr/>
        </p:nvSpPr>
        <p:spPr>
          <a:xfrm>
            <a:off x="3291839" y="137160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9" name="TextBox 8"/>
          <p:cNvSpPr txBox="1"/>
          <p:nvPr/>
        </p:nvSpPr>
        <p:spPr>
          <a:xfrm>
            <a:off x="3749039" y="1371600"/>
            <a:ext cx="1828800" cy="274320"/>
          </a:xfrm>
          <a:prstGeom prst="rect">
            <a:avLst/>
          </a:prstGeom>
          <a:noFill/>
        </p:spPr>
        <p:txBody>
          <a:bodyPr wrap="square">
            <a:spAutoFit/>
          </a:bodyPr>
          <a:lstStyle/>
          <a:p>
            <a:pPr algn="l">
              <a:defRPr sz="1100" b="1">
                <a:solidFill>
                  <a:srgbClr val="0F3C6B"/>
                </a:solidFill>
                <a:latin typeface="Calibri"/>
              </a:defRPr>
            </a:pPr>
            <a:r>
              <a:t>Data Visualization</a:t>
            </a:r>
          </a:p>
        </p:txBody>
      </p:sp>
      <p:sp>
        <p:nvSpPr>
          <p:cNvPr id="10" name="TextBox 9"/>
          <p:cNvSpPr txBox="1"/>
          <p:nvPr/>
        </p:nvSpPr>
        <p:spPr>
          <a:xfrm>
            <a:off x="3749039" y="1645920"/>
            <a:ext cx="1828800" cy="1097280"/>
          </a:xfrm>
          <a:prstGeom prst="rect">
            <a:avLst/>
          </a:prstGeom>
          <a:noFill/>
        </p:spPr>
        <p:txBody>
          <a:bodyPr wrap="square">
            <a:spAutoFit/>
          </a:bodyPr>
          <a:lstStyle/>
          <a:p>
            <a:pPr algn="l">
              <a:defRPr sz="900" b="0">
                <a:solidFill>
                  <a:srgbClr val="4A4A4A"/>
                </a:solidFill>
                <a:latin typeface="Calibri Light"/>
              </a:defRPr>
            </a:pPr>
            <a:r>
              <a:t>ggplot2 creates stunning, publication‑ready graphs</a:t>
            </a:r>
          </a:p>
        </p:txBody>
      </p:sp>
      <p:sp>
        <p:nvSpPr>
          <p:cNvPr id="11" name="TextBox 10"/>
          <p:cNvSpPr txBox="1"/>
          <p:nvPr/>
        </p:nvSpPr>
        <p:spPr>
          <a:xfrm>
            <a:off x="5486400" y="137160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12" name="TextBox 11"/>
          <p:cNvSpPr txBox="1"/>
          <p:nvPr/>
        </p:nvSpPr>
        <p:spPr>
          <a:xfrm>
            <a:off x="5943600" y="1371600"/>
            <a:ext cx="1828800" cy="274320"/>
          </a:xfrm>
          <a:prstGeom prst="rect">
            <a:avLst/>
          </a:prstGeom>
          <a:noFill/>
        </p:spPr>
        <p:txBody>
          <a:bodyPr wrap="square">
            <a:spAutoFit/>
          </a:bodyPr>
          <a:lstStyle/>
          <a:p>
            <a:pPr algn="l">
              <a:defRPr sz="1100" b="1">
                <a:solidFill>
                  <a:srgbClr val="0F3C6B"/>
                </a:solidFill>
                <a:latin typeface="Calibri"/>
              </a:defRPr>
            </a:pPr>
            <a:r>
              <a:t>Machine Learning</a:t>
            </a:r>
          </a:p>
        </p:txBody>
      </p:sp>
      <p:sp>
        <p:nvSpPr>
          <p:cNvPr id="13" name="TextBox 12"/>
          <p:cNvSpPr txBox="1"/>
          <p:nvPr/>
        </p:nvSpPr>
        <p:spPr>
          <a:xfrm>
            <a:off x="5943600" y="1645920"/>
            <a:ext cx="1828800" cy="1097280"/>
          </a:xfrm>
          <a:prstGeom prst="rect">
            <a:avLst/>
          </a:prstGeom>
          <a:noFill/>
        </p:spPr>
        <p:txBody>
          <a:bodyPr wrap="square">
            <a:spAutoFit/>
          </a:bodyPr>
          <a:lstStyle/>
          <a:p>
            <a:pPr algn="l">
              <a:defRPr sz="900" b="0">
                <a:solidFill>
                  <a:srgbClr val="4A4A4A"/>
                </a:solidFill>
                <a:latin typeface="Calibri Light"/>
              </a:defRPr>
            </a:pPr>
            <a:r>
              <a:t>Random forests, SVMs, neural nets with caret &amp; tidymodels</a:t>
            </a:r>
          </a:p>
        </p:txBody>
      </p:sp>
      <p:sp>
        <p:nvSpPr>
          <p:cNvPr id="14" name="TextBox 13"/>
          <p:cNvSpPr txBox="1"/>
          <p:nvPr/>
        </p:nvSpPr>
        <p:spPr>
          <a:xfrm>
            <a:off x="7680959" y="137160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15" name="TextBox 14"/>
          <p:cNvSpPr txBox="1"/>
          <p:nvPr/>
        </p:nvSpPr>
        <p:spPr>
          <a:xfrm>
            <a:off x="8138159" y="1371600"/>
            <a:ext cx="1828800" cy="274320"/>
          </a:xfrm>
          <a:prstGeom prst="rect">
            <a:avLst/>
          </a:prstGeom>
          <a:noFill/>
        </p:spPr>
        <p:txBody>
          <a:bodyPr wrap="square">
            <a:spAutoFit/>
          </a:bodyPr>
          <a:lstStyle/>
          <a:p>
            <a:pPr algn="l">
              <a:defRPr sz="1100" b="1">
                <a:solidFill>
                  <a:srgbClr val="0F3C6B"/>
                </a:solidFill>
                <a:latin typeface="Calibri"/>
              </a:defRPr>
            </a:pPr>
            <a:r>
              <a:t>Biostatistics</a:t>
            </a:r>
          </a:p>
        </p:txBody>
      </p:sp>
      <p:sp>
        <p:nvSpPr>
          <p:cNvPr id="16" name="TextBox 15"/>
          <p:cNvSpPr txBox="1"/>
          <p:nvPr/>
        </p:nvSpPr>
        <p:spPr>
          <a:xfrm>
            <a:off x="8138159" y="1645920"/>
            <a:ext cx="1828800" cy="1097280"/>
          </a:xfrm>
          <a:prstGeom prst="rect">
            <a:avLst/>
          </a:prstGeom>
          <a:noFill/>
        </p:spPr>
        <p:txBody>
          <a:bodyPr wrap="square">
            <a:spAutoFit/>
          </a:bodyPr>
          <a:lstStyle/>
          <a:p>
            <a:pPr algn="l">
              <a:defRPr sz="900" b="0">
                <a:solidFill>
                  <a:srgbClr val="4A4A4A"/>
                </a:solidFill>
                <a:latin typeface="Calibri Light"/>
              </a:defRPr>
            </a:pPr>
            <a:r>
              <a:t>Clinical trials, survival analysis, epidemiology</a:t>
            </a:r>
          </a:p>
        </p:txBody>
      </p:sp>
      <p:sp>
        <p:nvSpPr>
          <p:cNvPr id="17" name="TextBox 16"/>
          <p:cNvSpPr txBox="1"/>
          <p:nvPr/>
        </p:nvSpPr>
        <p:spPr>
          <a:xfrm>
            <a:off x="9875519" y="137160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18" name="TextBox 17"/>
          <p:cNvSpPr txBox="1"/>
          <p:nvPr/>
        </p:nvSpPr>
        <p:spPr>
          <a:xfrm>
            <a:off x="10332719" y="1371600"/>
            <a:ext cx="1828800" cy="274320"/>
          </a:xfrm>
          <a:prstGeom prst="rect">
            <a:avLst/>
          </a:prstGeom>
          <a:noFill/>
        </p:spPr>
        <p:txBody>
          <a:bodyPr wrap="square">
            <a:spAutoFit/>
          </a:bodyPr>
          <a:lstStyle/>
          <a:p>
            <a:pPr algn="l">
              <a:defRPr sz="1100" b="1">
                <a:solidFill>
                  <a:srgbClr val="0F3C6B"/>
                </a:solidFill>
                <a:latin typeface="Calibri"/>
              </a:defRPr>
            </a:pPr>
            <a:r>
              <a:t>Finance &amp; Economics</a:t>
            </a:r>
          </a:p>
        </p:txBody>
      </p:sp>
      <p:sp>
        <p:nvSpPr>
          <p:cNvPr id="19" name="TextBox 18"/>
          <p:cNvSpPr txBox="1"/>
          <p:nvPr/>
        </p:nvSpPr>
        <p:spPr>
          <a:xfrm>
            <a:off x="10332719" y="1645920"/>
            <a:ext cx="1828800" cy="1097280"/>
          </a:xfrm>
          <a:prstGeom prst="rect">
            <a:avLst/>
          </a:prstGeom>
          <a:noFill/>
        </p:spPr>
        <p:txBody>
          <a:bodyPr wrap="square">
            <a:spAutoFit/>
          </a:bodyPr>
          <a:lstStyle/>
          <a:p>
            <a:pPr algn="l">
              <a:defRPr sz="900" b="0">
                <a:solidFill>
                  <a:srgbClr val="4A4A4A"/>
                </a:solidFill>
                <a:latin typeface="Calibri Light"/>
              </a:defRPr>
            </a:pPr>
            <a:r>
              <a:t>Time series, risk modelling, portfolio analysis</a:t>
            </a:r>
          </a:p>
        </p:txBody>
      </p:sp>
      <p:sp>
        <p:nvSpPr>
          <p:cNvPr id="20" name="TextBox 19"/>
          <p:cNvSpPr txBox="1"/>
          <p:nvPr/>
        </p:nvSpPr>
        <p:spPr>
          <a:xfrm>
            <a:off x="1097280" y="310896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21" name="TextBox 20"/>
          <p:cNvSpPr txBox="1"/>
          <p:nvPr/>
        </p:nvSpPr>
        <p:spPr>
          <a:xfrm>
            <a:off x="1554480" y="3108960"/>
            <a:ext cx="1828800" cy="274320"/>
          </a:xfrm>
          <a:prstGeom prst="rect">
            <a:avLst/>
          </a:prstGeom>
          <a:noFill/>
        </p:spPr>
        <p:txBody>
          <a:bodyPr wrap="square">
            <a:spAutoFit/>
          </a:bodyPr>
          <a:lstStyle/>
          <a:p>
            <a:pPr algn="l">
              <a:defRPr sz="1100" b="1">
                <a:solidFill>
                  <a:srgbClr val="0F3C6B"/>
                </a:solidFill>
                <a:latin typeface="Calibri"/>
              </a:defRPr>
            </a:pPr>
            <a:r>
              <a:t>Survey Analysis</a:t>
            </a:r>
          </a:p>
        </p:txBody>
      </p:sp>
      <p:sp>
        <p:nvSpPr>
          <p:cNvPr id="22" name="TextBox 21"/>
          <p:cNvSpPr txBox="1"/>
          <p:nvPr/>
        </p:nvSpPr>
        <p:spPr>
          <a:xfrm>
            <a:off x="1554480" y="3383279"/>
            <a:ext cx="1828800" cy="1097280"/>
          </a:xfrm>
          <a:prstGeom prst="rect">
            <a:avLst/>
          </a:prstGeom>
          <a:noFill/>
        </p:spPr>
        <p:txBody>
          <a:bodyPr wrap="square">
            <a:spAutoFit/>
          </a:bodyPr>
          <a:lstStyle/>
          <a:p>
            <a:pPr algn="l">
              <a:defRPr sz="900" b="0">
                <a:solidFill>
                  <a:srgbClr val="4A4A4A"/>
                </a:solidFill>
                <a:latin typeface="Calibri Light"/>
              </a:defRPr>
            </a:pPr>
            <a:r>
              <a:t>Complex survey design with the survey package</a:t>
            </a:r>
          </a:p>
        </p:txBody>
      </p:sp>
      <p:sp>
        <p:nvSpPr>
          <p:cNvPr id="23" name="TextBox 22"/>
          <p:cNvSpPr txBox="1"/>
          <p:nvPr/>
        </p:nvSpPr>
        <p:spPr>
          <a:xfrm>
            <a:off x="3291839" y="310896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24" name="TextBox 23"/>
          <p:cNvSpPr txBox="1"/>
          <p:nvPr/>
        </p:nvSpPr>
        <p:spPr>
          <a:xfrm>
            <a:off x="3749039" y="3108960"/>
            <a:ext cx="1828800" cy="274320"/>
          </a:xfrm>
          <a:prstGeom prst="rect">
            <a:avLst/>
          </a:prstGeom>
          <a:noFill/>
        </p:spPr>
        <p:txBody>
          <a:bodyPr wrap="square">
            <a:spAutoFit/>
          </a:bodyPr>
          <a:lstStyle/>
          <a:p>
            <a:pPr algn="l">
              <a:defRPr sz="1100" b="1">
                <a:solidFill>
                  <a:srgbClr val="0F3C6B"/>
                </a:solidFill>
                <a:latin typeface="Calibri"/>
              </a:defRPr>
            </a:pPr>
            <a:r>
              <a:t>Big Data</a:t>
            </a:r>
          </a:p>
        </p:txBody>
      </p:sp>
      <p:sp>
        <p:nvSpPr>
          <p:cNvPr id="25" name="TextBox 24"/>
          <p:cNvSpPr txBox="1"/>
          <p:nvPr/>
        </p:nvSpPr>
        <p:spPr>
          <a:xfrm>
            <a:off x="3749039" y="3383279"/>
            <a:ext cx="1828800" cy="1097280"/>
          </a:xfrm>
          <a:prstGeom prst="rect">
            <a:avLst/>
          </a:prstGeom>
          <a:noFill/>
        </p:spPr>
        <p:txBody>
          <a:bodyPr wrap="square">
            <a:spAutoFit/>
          </a:bodyPr>
          <a:lstStyle/>
          <a:p>
            <a:pPr algn="l">
              <a:defRPr sz="900" b="0">
                <a:solidFill>
                  <a:srgbClr val="4A4A4A"/>
                </a:solidFill>
                <a:latin typeface="Calibri Light"/>
              </a:defRPr>
            </a:pPr>
            <a:r>
              <a:t>Integration with Spark, Hadoop, and databases</a:t>
            </a:r>
          </a:p>
        </p:txBody>
      </p:sp>
      <p:sp>
        <p:nvSpPr>
          <p:cNvPr id="26" name="TextBox 25"/>
          <p:cNvSpPr txBox="1"/>
          <p:nvPr/>
        </p:nvSpPr>
        <p:spPr>
          <a:xfrm>
            <a:off x="5486400" y="310896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27" name="TextBox 26"/>
          <p:cNvSpPr txBox="1"/>
          <p:nvPr/>
        </p:nvSpPr>
        <p:spPr>
          <a:xfrm>
            <a:off x="5943600" y="3108960"/>
            <a:ext cx="1828800" cy="274320"/>
          </a:xfrm>
          <a:prstGeom prst="rect">
            <a:avLst/>
          </a:prstGeom>
          <a:noFill/>
        </p:spPr>
        <p:txBody>
          <a:bodyPr wrap="square">
            <a:spAutoFit/>
          </a:bodyPr>
          <a:lstStyle/>
          <a:p>
            <a:pPr algn="l">
              <a:defRPr sz="1100" b="1">
                <a:solidFill>
                  <a:srgbClr val="0F3C6B"/>
                </a:solidFill>
                <a:latin typeface="Calibri"/>
              </a:defRPr>
            </a:pPr>
            <a:r>
              <a:t>Reproducible Research</a:t>
            </a:r>
          </a:p>
        </p:txBody>
      </p:sp>
      <p:sp>
        <p:nvSpPr>
          <p:cNvPr id="28" name="TextBox 27"/>
          <p:cNvSpPr txBox="1"/>
          <p:nvPr/>
        </p:nvSpPr>
        <p:spPr>
          <a:xfrm>
            <a:off x="5943600" y="3383279"/>
            <a:ext cx="1828800" cy="1097280"/>
          </a:xfrm>
          <a:prstGeom prst="rect">
            <a:avLst/>
          </a:prstGeom>
          <a:noFill/>
        </p:spPr>
        <p:txBody>
          <a:bodyPr wrap="square">
            <a:spAutoFit/>
          </a:bodyPr>
          <a:lstStyle/>
          <a:p>
            <a:pPr algn="l">
              <a:defRPr sz="900" b="0">
                <a:solidFill>
                  <a:srgbClr val="4A4A4A"/>
                </a:solidFill>
                <a:latin typeface="Calibri Light"/>
              </a:defRPr>
            </a:pPr>
            <a:r>
              <a:t>R Markdown &amp; Quarto combine code, output, and narrative</a:t>
            </a:r>
          </a:p>
        </p:txBody>
      </p:sp>
      <p:sp>
        <p:nvSpPr>
          <p:cNvPr id="29" name="TextBox 28"/>
          <p:cNvSpPr txBox="1"/>
          <p:nvPr/>
        </p:nvSpPr>
        <p:spPr>
          <a:xfrm>
            <a:off x="7680959" y="310896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30" name="TextBox 29"/>
          <p:cNvSpPr txBox="1"/>
          <p:nvPr/>
        </p:nvSpPr>
        <p:spPr>
          <a:xfrm>
            <a:off x="8138159" y="3108960"/>
            <a:ext cx="1828800" cy="274320"/>
          </a:xfrm>
          <a:prstGeom prst="rect">
            <a:avLst/>
          </a:prstGeom>
          <a:noFill/>
        </p:spPr>
        <p:txBody>
          <a:bodyPr wrap="square">
            <a:spAutoFit/>
          </a:bodyPr>
          <a:lstStyle/>
          <a:p>
            <a:pPr algn="l">
              <a:defRPr sz="1100" b="1">
                <a:solidFill>
                  <a:srgbClr val="0F3C6B"/>
                </a:solidFill>
                <a:latin typeface="Calibri"/>
              </a:defRPr>
            </a:pPr>
            <a:r>
              <a:t>Government Statistics</a:t>
            </a:r>
          </a:p>
        </p:txBody>
      </p:sp>
      <p:sp>
        <p:nvSpPr>
          <p:cNvPr id="31" name="TextBox 30"/>
          <p:cNvSpPr txBox="1"/>
          <p:nvPr/>
        </p:nvSpPr>
        <p:spPr>
          <a:xfrm>
            <a:off x="8138159" y="3383279"/>
            <a:ext cx="1828800" cy="1097280"/>
          </a:xfrm>
          <a:prstGeom prst="rect">
            <a:avLst/>
          </a:prstGeom>
          <a:noFill/>
        </p:spPr>
        <p:txBody>
          <a:bodyPr wrap="square">
            <a:spAutoFit/>
          </a:bodyPr>
          <a:lstStyle/>
          <a:p>
            <a:pPr algn="l">
              <a:defRPr sz="900" b="0">
                <a:solidFill>
                  <a:srgbClr val="4A4A4A"/>
                </a:solidFill>
                <a:latin typeface="Calibri Light"/>
              </a:defRPr>
            </a:pPr>
            <a:r>
              <a:t>Used by national statistical offices worldwide</a:t>
            </a:r>
          </a:p>
        </p:txBody>
      </p:sp>
      <p:sp>
        <p:nvSpPr>
          <p:cNvPr id="32" name="TextBox 31"/>
          <p:cNvSpPr txBox="1"/>
          <p:nvPr/>
        </p:nvSpPr>
        <p:spPr>
          <a:xfrm>
            <a:off x="9875519" y="3108960"/>
            <a:ext cx="365760" cy="365760"/>
          </a:xfrm>
          <a:prstGeom prst="rect">
            <a:avLst/>
          </a:prstGeom>
          <a:noFill/>
        </p:spPr>
        <p:txBody>
          <a:bodyPr wrap="square">
            <a:spAutoFit/>
          </a:bodyPr>
          <a:lstStyle/>
          <a:p>
            <a:pPr algn="l">
              <a:defRPr sz="2000" b="0">
                <a:solidFill>
                  <a:srgbClr val="1A1A1A"/>
                </a:solidFill>
                <a:latin typeface="Calibri"/>
              </a:defRPr>
            </a:pPr>
            <a:r>
              <a:t>🎓</a:t>
            </a:r>
          </a:p>
        </p:txBody>
      </p:sp>
      <p:sp>
        <p:nvSpPr>
          <p:cNvPr id="33" name="TextBox 32"/>
          <p:cNvSpPr txBox="1"/>
          <p:nvPr/>
        </p:nvSpPr>
        <p:spPr>
          <a:xfrm>
            <a:off x="10332719" y="3108960"/>
            <a:ext cx="1828800" cy="274320"/>
          </a:xfrm>
          <a:prstGeom prst="rect">
            <a:avLst/>
          </a:prstGeom>
          <a:noFill/>
        </p:spPr>
        <p:txBody>
          <a:bodyPr wrap="square">
            <a:spAutoFit/>
          </a:bodyPr>
          <a:lstStyle/>
          <a:p>
            <a:pPr algn="l">
              <a:defRPr sz="1100" b="1">
                <a:solidFill>
                  <a:srgbClr val="0F3C6B"/>
                </a:solidFill>
                <a:latin typeface="Calibri"/>
              </a:defRPr>
            </a:pPr>
            <a:r>
              <a:t>Academic Research</a:t>
            </a:r>
          </a:p>
        </p:txBody>
      </p:sp>
      <p:sp>
        <p:nvSpPr>
          <p:cNvPr id="34" name="TextBox 33"/>
          <p:cNvSpPr txBox="1"/>
          <p:nvPr/>
        </p:nvSpPr>
        <p:spPr>
          <a:xfrm>
            <a:off x="10332719" y="3383279"/>
            <a:ext cx="1828800" cy="1097280"/>
          </a:xfrm>
          <a:prstGeom prst="rect">
            <a:avLst/>
          </a:prstGeom>
          <a:noFill/>
        </p:spPr>
        <p:txBody>
          <a:bodyPr wrap="square">
            <a:spAutoFit/>
          </a:bodyPr>
          <a:lstStyle/>
          <a:p>
            <a:pPr algn="l">
              <a:defRPr sz="900" b="0">
                <a:solidFill>
                  <a:srgbClr val="4A4A4A"/>
                </a:solidFill>
                <a:latin typeface="Calibri Light"/>
              </a:defRPr>
            </a:pPr>
            <a:r>
              <a:t>Standard in psychology, ecology, political science, and more</a:t>
            </a:r>
          </a:p>
        </p:txBody>
      </p:sp>
      <p:sp>
        <p:nvSpPr>
          <p:cNvPr id="35" name="Rectangle 34"/>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36" name="TextBox 35"/>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Best Practices</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Set yourself up for success with R and RStudio</a:t>
            </a:r>
          </a:p>
        </p:txBody>
      </p:sp>
      <p:sp>
        <p:nvSpPr>
          <p:cNvPr id="5" name="TextBox 4"/>
          <p:cNvSpPr txBox="1"/>
          <p:nvPr/>
        </p:nvSpPr>
        <p:spPr>
          <a:xfrm>
            <a:off x="731520" y="1371600"/>
            <a:ext cx="457200" cy="457200"/>
          </a:xfrm>
          <a:prstGeom prst="rect">
            <a:avLst/>
          </a:prstGeom>
          <a:noFill/>
        </p:spPr>
        <p:txBody>
          <a:bodyPr wrap="square">
            <a:spAutoFit/>
          </a:bodyPr>
          <a:lstStyle/>
          <a:p>
            <a:pPr algn="l">
              <a:defRPr sz="2000" b="0">
                <a:solidFill>
                  <a:srgbClr val="1A1A1A"/>
                </a:solidFill>
                <a:latin typeface="Calibri"/>
              </a:defRPr>
            </a:pPr>
            <a:r>
              <a:t>🌐</a:t>
            </a:r>
          </a:p>
        </p:txBody>
      </p:sp>
      <p:sp>
        <p:nvSpPr>
          <p:cNvPr id="6" name="TextBox 5"/>
          <p:cNvSpPr txBox="1"/>
          <p:nvPr/>
        </p:nvSpPr>
        <p:spPr>
          <a:xfrm>
            <a:off x="1280160" y="1371600"/>
            <a:ext cx="3657600" cy="274320"/>
          </a:xfrm>
          <a:prstGeom prst="rect">
            <a:avLst/>
          </a:prstGeom>
          <a:noFill/>
        </p:spPr>
        <p:txBody>
          <a:bodyPr wrap="square">
            <a:spAutoFit/>
          </a:bodyPr>
          <a:lstStyle/>
          <a:p>
            <a:pPr algn="l">
              <a:defRPr sz="1400" b="1">
                <a:solidFill>
                  <a:srgbClr val="0F3C6B"/>
                </a:solidFill>
                <a:latin typeface="Calibri"/>
              </a:defRPr>
            </a:pPr>
            <a:r>
              <a:t>Download from Official Sources</a:t>
            </a:r>
          </a:p>
        </p:txBody>
      </p:sp>
      <p:sp>
        <p:nvSpPr>
          <p:cNvPr id="7" name="TextBox 6"/>
          <p:cNvSpPr txBox="1"/>
          <p:nvPr/>
        </p:nvSpPr>
        <p:spPr>
          <a:xfrm>
            <a:off x="1280160" y="1645920"/>
            <a:ext cx="10058400" cy="457200"/>
          </a:xfrm>
          <a:prstGeom prst="rect">
            <a:avLst/>
          </a:prstGeom>
          <a:noFill/>
        </p:spPr>
        <p:txBody>
          <a:bodyPr wrap="square">
            <a:spAutoFit/>
          </a:bodyPr>
          <a:lstStyle/>
          <a:p>
            <a:pPr algn="l">
              <a:defRPr sz="1000" b="0">
                <a:solidFill>
                  <a:srgbClr val="4A4A4A"/>
                </a:solidFill>
                <a:latin typeface="Calibri Light"/>
              </a:defRPr>
            </a:pPr>
            <a:r>
              <a:t>Always get R from cran.r-project.org and RStudio from posit.co. Third‑party mirrors may be outdated or unsafe.</a:t>
            </a:r>
          </a:p>
        </p:txBody>
      </p:sp>
      <p:sp>
        <p:nvSpPr>
          <p:cNvPr id="8" name="TextBox 7"/>
          <p:cNvSpPr txBox="1"/>
          <p:nvPr/>
        </p:nvSpPr>
        <p:spPr>
          <a:xfrm>
            <a:off x="731520" y="2194560"/>
            <a:ext cx="457200" cy="457200"/>
          </a:xfrm>
          <a:prstGeom prst="rect">
            <a:avLst/>
          </a:prstGeom>
          <a:noFill/>
        </p:spPr>
        <p:txBody>
          <a:bodyPr wrap="square">
            <a:spAutoFit/>
          </a:bodyPr>
          <a:lstStyle/>
          <a:p>
            <a:pPr algn="l">
              <a:defRPr sz="2000" b="0">
                <a:solidFill>
                  <a:srgbClr val="1A1A1A"/>
                </a:solidFill>
                <a:latin typeface="Calibri"/>
              </a:defRPr>
            </a:pPr>
            <a:r>
              <a:t>🔄</a:t>
            </a:r>
          </a:p>
        </p:txBody>
      </p:sp>
      <p:sp>
        <p:nvSpPr>
          <p:cNvPr id="9" name="TextBox 8"/>
          <p:cNvSpPr txBox="1"/>
          <p:nvPr/>
        </p:nvSpPr>
        <p:spPr>
          <a:xfrm>
            <a:off x="1280160" y="2194560"/>
            <a:ext cx="3657600" cy="274320"/>
          </a:xfrm>
          <a:prstGeom prst="rect">
            <a:avLst/>
          </a:prstGeom>
          <a:noFill/>
        </p:spPr>
        <p:txBody>
          <a:bodyPr wrap="square">
            <a:spAutoFit/>
          </a:bodyPr>
          <a:lstStyle/>
          <a:p>
            <a:pPr algn="l">
              <a:defRPr sz="1400" b="1">
                <a:solidFill>
                  <a:srgbClr val="0F3C6B"/>
                </a:solidFill>
                <a:latin typeface="Calibri"/>
              </a:defRPr>
            </a:pPr>
            <a:r>
              <a:t>Keep R and RStudio Updated</a:t>
            </a:r>
          </a:p>
        </p:txBody>
      </p:sp>
      <p:sp>
        <p:nvSpPr>
          <p:cNvPr id="10" name="TextBox 9"/>
          <p:cNvSpPr txBox="1"/>
          <p:nvPr/>
        </p:nvSpPr>
        <p:spPr>
          <a:xfrm>
            <a:off x="1280160" y="2468879"/>
            <a:ext cx="10058400" cy="457200"/>
          </a:xfrm>
          <a:prstGeom prst="rect">
            <a:avLst/>
          </a:prstGeom>
          <a:noFill/>
        </p:spPr>
        <p:txBody>
          <a:bodyPr wrap="square">
            <a:spAutoFit/>
          </a:bodyPr>
          <a:lstStyle/>
          <a:p>
            <a:pPr algn="l">
              <a:defRPr sz="1000" b="0">
                <a:solidFill>
                  <a:srgbClr val="4A4A4A"/>
                </a:solidFill>
                <a:latin typeface="Calibri Light"/>
              </a:defRPr>
            </a:pPr>
            <a:r>
              <a:t>R updates a few times a year. Use installr package on Windows or simply download the new version. RStudio prompts you when updates are available.</a:t>
            </a:r>
          </a:p>
        </p:txBody>
      </p:sp>
      <p:sp>
        <p:nvSpPr>
          <p:cNvPr id="11" name="TextBox 10"/>
          <p:cNvSpPr txBox="1"/>
          <p:nvPr/>
        </p:nvSpPr>
        <p:spPr>
          <a:xfrm>
            <a:off x="731520" y="3017520"/>
            <a:ext cx="457200" cy="457200"/>
          </a:xfrm>
          <a:prstGeom prst="rect">
            <a:avLst/>
          </a:prstGeom>
          <a:noFill/>
        </p:spPr>
        <p:txBody>
          <a:bodyPr wrap="square">
            <a:spAutoFit/>
          </a:bodyPr>
          <a:lstStyle/>
          <a:p>
            <a:pPr algn="l">
              <a:defRPr sz="2000" b="0">
                <a:solidFill>
                  <a:srgbClr val="1A1A1A"/>
                </a:solidFill>
                <a:latin typeface="Calibri"/>
              </a:defRPr>
            </a:pPr>
            <a:r>
              <a:t>📁</a:t>
            </a:r>
          </a:p>
        </p:txBody>
      </p:sp>
      <p:sp>
        <p:nvSpPr>
          <p:cNvPr id="12" name="TextBox 11"/>
          <p:cNvSpPr txBox="1"/>
          <p:nvPr/>
        </p:nvSpPr>
        <p:spPr>
          <a:xfrm>
            <a:off x="1280160" y="3017520"/>
            <a:ext cx="3657600" cy="274320"/>
          </a:xfrm>
          <a:prstGeom prst="rect">
            <a:avLst/>
          </a:prstGeom>
          <a:noFill/>
        </p:spPr>
        <p:txBody>
          <a:bodyPr wrap="square">
            <a:spAutoFit/>
          </a:bodyPr>
          <a:lstStyle/>
          <a:p>
            <a:pPr algn="l">
              <a:defRPr sz="1400" b="1">
                <a:solidFill>
                  <a:srgbClr val="0F3C6B"/>
                </a:solidFill>
                <a:latin typeface="Calibri"/>
              </a:defRPr>
            </a:pPr>
            <a:r>
              <a:t>Use RStudio Projects</a:t>
            </a:r>
          </a:p>
        </p:txBody>
      </p:sp>
      <p:sp>
        <p:nvSpPr>
          <p:cNvPr id="13" name="TextBox 12"/>
          <p:cNvSpPr txBox="1"/>
          <p:nvPr/>
        </p:nvSpPr>
        <p:spPr>
          <a:xfrm>
            <a:off x="1280160" y="3291839"/>
            <a:ext cx="10058400" cy="457200"/>
          </a:xfrm>
          <a:prstGeom prst="rect">
            <a:avLst/>
          </a:prstGeom>
          <a:noFill/>
        </p:spPr>
        <p:txBody>
          <a:bodyPr wrap="square">
            <a:spAutoFit/>
          </a:bodyPr>
          <a:lstStyle/>
          <a:p>
            <a:pPr algn="l">
              <a:defRPr sz="1000" b="0">
                <a:solidFill>
                  <a:srgbClr val="4A4A4A"/>
                </a:solidFill>
                <a:latin typeface="Calibri Light"/>
              </a:defRPr>
            </a:pPr>
            <a:r>
              <a:t>Create a new project for each assignment or research project. This keeps files, history, and settings organized.</a:t>
            </a:r>
          </a:p>
        </p:txBody>
      </p:sp>
      <p:sp>
        <p:nvSpPr>
          <p:cNvPr id="14" name="TextBox 13"/>
          <p:cNvSpPr txBox="1"/>
          <p:nvPr/>
        </p:nvSpPr>
        <p:spPr>
          <a:xfrm>
            <a:off x="731520" y="3840480"/>
            <a:ext cx="457200" cy="457200"/>
          </a:xfrm>
          <a:prstGeom prst="rect">
            <a:avLst/>
          </a:prstGeom>
          <a:noFill/>
        </p:spPr>
        <p:txBody>
          <a:bodyPr wrap="square">
            <a:spAutoFit/>
          </a:bodyPr>
          <a:lstStyle/>
          <a:p>
            <a:pPr algn="l">
              <a:defRPr sz="2000" b="0">
                <a:solidFill>
                  <a:srgbClr val="1A1A1A"/>
                </a:solidFill>
                <a:latin typeface="Calibri"/>
              </a:defRPr>
            </a:pPr>
            <a:r>
              <a:t>📝</a:t>
            </a:r>
          </a:p>
        </p:txBody>
      </p:sp>
      <p:sp>
        <p:nvSpPr>
          <p:cNvPr id="15" name="TextBox 14"/>
          <p:cNvSpPr txBox="1"/>
          <p:nvPr/>
        </p:nvSpPr>
        <p:spPr>
          <a:xfrm>
            <a:off x="1280160" y="3840480"/>
            <a:ext cx="3657600" cy="274320"/>
          </a:xfrm>
          <a:prstGeom prst="rect">
            <a:avLst/>
          </a:prstGeom>
          <a:noFill/>
        </p:spPr>
        <p:txBody>
          <a:bodyPr wrap="square">
            <a:spAutoFit/>
          </a:bodyPr>
          <a:lstStyle/>
          <a:p>
            <a:pPr algn="l">
              <a:defRPr sz="1400" b="1">
                <a:solidFill>
                  <a:srgbClr val="0F3C6B"/>
                </a:solidFill>
                <a:latin typeface="Calibri"/>
              </a:defRPr>
            </a:pPr>
            <a:r>
              <a:t>Comment Your Code</a:t>
            </a:r>
          </a:p>
        </p:txBody>
      </p:sp>
      <p:sp>
        <p:nvSpPr>
          <p:cNvPr id="16" name="TextBox 15"/>
          <p:cNvSpPr txBox="1"/>
          <p:nvPr/>
        </p:nvSpPr>
        <p:spPr>
          <a:xfrm>
            <a:off x="1280160" y="4114800"/>
            <a:ext cx="10058400" cy="457200"/>
          </a:xfrm>
          <a:prstGeom prst="rect">
            <a:avLst/>
          </a:prstGeom>
          <a:noFill/>
        </p:spPr>
        <p:txBody>
          <a:bodyPr wrap="square">
            <a:spAutoFit/>
          </a:bodyPr>
          <a:lstStyle/>
          <a:p>
            <a:pPr algn="l">
              <a:defRPr sz="1000" b="0">
                <a:solidFill>
                  <a:srgbClr val="4A4A4A"/>
                </a:solidFill>
                <a:latin typeface="Calibri Light"/>
              </a:defRPr>
            </a:pPr>
            <a:r>
              <a:t>Use # to add comments. Future you (and your markers) will thank you. Explain what your code does, not just how.</a:t>
            </a:r>
          </a:p>
        </p:txBody>
      </p:sp>
      <p:sp>
        <p:nvSpPr>
          <p:cNvPr id="17" name="TextBox 16"/>
          <p:cNvSpPr txBox="1"/>
          <p:nvPr/>
        </p:nvSpPr>
        <p:spPr>
          <a:xfrm>
            <a:off x="731520" y="4663440"/>
            <a:ext cx="457200" cy="457200"/>
          </a:xfrm>
          <a:prstGeom prst="rect">
            <a:avLst/>
          </a:prstGeom>
          <a:noFill/>
        </p:spPr>
        <p:txBody>
          <a:bodyPr wrap="square">
            <a:spAutoFit/>
          </a:bodyPr>
          <a:lstStyle/>
          <a:p>
            <a:pPr algn="l">
              <a:defRPr sz="2000" b="0">
                <a:solidFill>
                  <a:srgbClr val="1A1A1A"/>
                </a:solidFill>
                <a:latin typeface="Calibri"/>
              </a:defRPr>
            </a:pPr>
            <a:r>
              <a:t>💾</a:t>
            </a:r>
          </a:p>
        </p:txBody>
      </p:sp>
      <p:sp>
        <p:nvSpPr>
          <p:cNvPr id="18" name="TextBox 17"/>
          <p:cNvSpPr txBox="1"/>
          <p:nvPr/>
        </p:nvSpPr>
        <p:spPr>
          <a:xfrm>
            <a:off x="1280160" y="4663440"/>
            <a:ext cx="3657600" cy="274320"/>
          </a:xfrm>
          <a:prstGeom prst="rect">
            <a:avLst/>
          </a:prstGeom>
          <a:noFill/>
        </p:spPr>
        <p:txBody>
          <a:bodyPr wrap="square">
            <a:spAutoFit/>
          </a:bodyPr>
          <a:lstStyle/>
          <a:p>
            <a:pPr algn="l">
              <a:defRPr sz="1400" b="1">
                <a:solidFill>
                  <a:srgbClr val="0F3C6B"/>
                </a:solidFill>
                <a:latin typeface="Calibri"/>
              </a:defRPr>
            </a:pPr>
            <a:r>
              <a:t>Save Frequently</a:t>
            </a:r>
          </a:p>
        </p:txBody>
      </p:sp>
      <p:sp>
        <p:nvSpPr>
          <p:cNvPr id="19" name="TextBox 18"/>
          <p:cNvSpPr txBox="1"/>
          <p:nvPr/>
        </p:nvSpPr>
        <p:spPr>
          <a:xfrm>
            <a:off x="1280160" y="4937759"/>
            <a:ext cx="10058400" cy="457200"/>
          </a:xfrm>
          <a:prstGeom prst="rect">
            <a:avLst/>
          </a:prstGeom>
          <a:noFill/>
        </p:spPr>
        <p:txBody>
          <a:bodyPr wrap="square">
            <a:spAutoFit/>
          </a:bodyPr>
          <a:lstStyle/>
          <a:p>
            <a:pPr algn="l">
              <a:defRPr sz="1000" b="0">
                <a:solidFill>
                  <a:srgbClr val="4A4A4A"/>
                </a:solidFill>
                <a:latin typeface="Calibri Light"/>
              </a:defRPr>
            </a:pPr>
            <a:r>
              <a:t>Save scripts with Ctrl+S. RStudio can also be set to auto‑save. Consider version control with Git for important work.</a:t>
            </a:r>
          </a:p>
        </p:txBody>
      </p:sp>
      <p:sp>
        <p:nvSpPr>
          <p:cNvPr id="20" name="TextBox 19"/>
          <p:cNvSpPr txBox="1"/>
          <p:nvPr/>
        </p:nvSpPr>
        <p:spPr>
          <a:xfrm>
            <a:off x="731520" y="5486400"/>
            <a:ext cx="457200" cy="457200"/>
          </a:xfrm>
          <a:prstGeom prst="rect">
            <a:avLst/>
          </a:prstGeom>
          <a:noFill/>
        </p:spPr>
        <p:txBody>
          <a:bodyPr wrap="square">
            <a:spAutoFit/>
          </a:bodyPr>
          <a:lstStyle/>
          <a:p>
            <a:pPr algn="l">
              <a:defRPr sz="2000" b="0">
                <a:solidFill>
                  <a:srgbClr val="1A1A1A"/>
                </a:solidFill>
                <a:latin typeface="Calibri"/>
              </a:defRPr>
            </a:pPr>
            <a:r>
              <a:t>📦</a:t>
            </a:r>
          </a:p>
        </p:txBody>
      </p:sp>
      <p:sp>
        <p:nvSpPr>
          <p:cNvPr id="21" name="TextBox 20"/>
          <p:cNvSpPr txBox="1"/>
          <p:nvPr/>
        </p:nvSpPr>
        <p:spPr>
          <a:xfrm>
            <a:off x="1280160" y="5486400"/>
            <a:ext cx="3657600" cy="274320"/>
          </a:xfrm>
          <a:prstGeom prst="rect">
            <a:avLst/>
          </a:prstGeom>
          <a:noFill/>
        </p:spPr>
        <p:txBody>
          <a:bodyPr wrap="square">
            <a:spAutoFit/>
          </a:bodyPr>
          <a:lstStyle/>
          <a:p>
            <a:pPr algn="l">
              <a:defRPr sz="1400" b="1">
                <a:solidFill>
                  <a:srgbClr val="0F3C6B"/>
                </a:solidFill>
                <a:latin typeface="Calibri"/>
              </a:defRPr>
            </a:pPr>
            <a:r>
              <a:t>Install Packages Carefully</a:t>
            </a:r>
          </a:p>
        </p:txBody>
      </p:sp>
      <p:sp>
        <p:nvSpPr>
          <p:cNvPr id="22" name="TextBox 21"/>
          <p:cNvSpPr txBox="1"/>
          <p:nvPr/>
        </p:nvSpPr>
        <p:spPr>
          <a:xfrm>
            <a:off x="1280160" y="5760720"/>
            <a:ext cx="10058400" cy="457200"/>
          </a:xfrm>
          <a:prstGeom prst="rect">
            <a:avLst/>
          </a:prstGeom>
          <a:noFill/>
        </p:spPr>
        <p:txBody>
          <a:bodyPr wrap="square">
            <a:spAutoFit/>
          </a:bodyPr>
          <a:lstStyle/>
          <a:p>
            <a:pPr algn="l">
              <a:defRPr sz="1000" b="0">
                <a:solidFill>
                  <a:srgbClr val="4A4A4A"/>
                </a:solidFill>
                <a:latin typeface="Calibri Light"/>
              </a:defRPr>
            </a:pPr>
            <a:r>
              <a:t>Stick to CRAN packages when possible. Use install.packages('pkg'). For development versions, know the source.</a:t>
            </a:r>
          </a:p>
        </p:txBody>
      </p:sp>
      <p:sp>
        <p:nvSpPr>
          <p:cNvPr id="23" name="Rectangle 22"/>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4" name="TextBox 23"/>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10515600" cy="731520"/>
          </a:xfrm>
          <a:prstGeom prst="rect">
            <a:avLst/>
          </a:prstGeom>
          <a:noFill/>
        </p:spPr>
        <p:txBody>
          <a:bodyPr wrap="square">
            <a:spAutoFit/>
          </a:bodyPr>
          <a:lstStyle/>
          <a:p>
            <a:pPr algn="l">
              <a:defRPr sz="3000" b="1">
                <a:solidFill>
                  <a:srgbClr val="FFFFFF"/>
                </a:solidFill>
                <a:latin typeface="Calibri Light"/>
              </a:defRPr>
            </a:pPr>
            <a:r>
              <a:t>Summary – What You've Achieved</a:t>
            </a:r>
          </a:p>
        </p:txBody>
      </p:sp>
      <p:sp>
        <p:nvSpPr>
          <p:cNvPr id="4" name="TextBox 3"/>
          <p:cNvSpPr txBox="1"/>
          <p:nvPr/>
        </p:nvSpPr>
        <p:spPr>
          <a:xfrm>
            <a:off x="731520" y="685800"/>
            <a:ext cx="10515600" cy="365760"/>
          </a:xfrm>
          <a:prstGeom prst="rect">
            <a:avLst/>
          </a:prstGeom>
          <a:noFill/>
        </p:spPr>
        <p:txBody>
          <a:bodyPr wrap="square">
            <a:spAutoFit/>
          </a:bodyPr>
          <a:lstStyle/>
          <a:p>
            <a:pPr algn="l">
              <a:defRPr sz="1400" b="0">
                <a:solidFill>
                  <a:srgbClr val="BBCCDD"/>
                </a:solidFill>
                <a:latin typeface="Calibri Light"/>
              </a:defRPr>
            </a:pPr>
            <a:r>
              <a:t>Recap of today's workshop</a:t>
            </a:r>
          </a:p>
        </p:txBody>
      </p:sp>
      <p:sp>
        <p:nvSpPr>
          <p:cNvPr id="5" name="Oval 4"/>
          <p:cNvSpPr/>
          <p:nvPr/>
        </p:nvSpPr>
        <p:spPr>
          <a:xfrm>
            <a:off x="914400" y="137160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6" name="TextBox 5"/>
          <p:cNvSpPr txBox="1"/>
          <p:nvPr/>
        </p:nvSpPr>
        <p:spPr>
          <a:xfrm>
            <a:off x="1554480" y="1389888"/>
            <a:ext cx="4572000" cy="274320"/>
          </a:xfrm>
          <a:prstGeom prst="rect">
            <a:avLst/>
          </a:prstGeom>
          <a:noFill/>
        </p:spPr>
        <p:txBody>
          <a:bodyPr wrap="square">
            <a:spAutoFit/>
          </a:bodyPr>
          <a:lstStyle/>
          <a:p>
            <a:pPr algn="l">
              <a:defRPr sz="1600" b="1">
                <a:solidFill>
                  <a:srgbClr val="0F3C6B"/>
                </a:solidFill>
                <a:latin typeface="Calibri"/>
              </a:defRPr>
            </a:pPr>
            <a:r>
              <a:t>Downloaded R 4.6.4</a:t>
            </a:r>
          </a:p>
        </p:txBody>
      </p:sp>
      <p:sp>
        <p:nvSpPr>
          <p:cNvPr id="7" name="TextBox 6"/>
          <p:cNvSpPr txBox="1"/>
          <p:nvPr/>
        </p:nvSpPr>
        <p:spPr>
          <a:xfrm>
            <a:off x="1554480" y="1691640"/>
            <a:ext cx="9144000" cy="411480"/>
          </a:xfrm>
          <a:prstGeom prst="rect">
            <a:avLst/>
          </a:prstGeom>
          <a:noFill/>
        </p:spPr>
        <p:txBody>
          <a:bodyPr wrap="square">
            <a:spAutoFit/>
          </a:bodyPr>
          <a:lstStyle/>
          <a:p>
            <a:pPr algn="l">
              <a:defRPr sz="1100" b="0">
                <a:solidFill>
                  <a:srgbClr val="4A4A4A"/>
                </a:solidFill>
                <a:latin typeface="Calibri Light"/>
              </a:defRPr>
            </a:pPr>
            <a:r>
              <a:t>You visited CRAN and downloaded the correct installer for your OS.</a:t>
            </a:r>
          </a:p>
        </p:txBody>
      </p:sp>
      <p:sp>
        <p:nvSpPr>
          <p:cNvPr id="8" name="Oval 7"/>
          <p:cNvSpPr/>
          <p:nvPr/>
        </p:nvSpPr>
        <p:spPr>
          <a:xfrm>
            <a:off x="914400" y="214884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9" name="TextBox 8"/>
          <p:cNvSpPr txBox="1"/>
          <p:nvPr/>
        </p:nvSpPr>
        <p:spPr>
          <a:xfrm>
            <a:off x="1554480" y="2167128"/>
            <a:ext cx="4572000" cy="274320"/>
          </a:xfrm>
          <a:prstGeom prst="rect">
            <a:avLst/>
          </a:prstGeom>
          <a:noFill/>
        </p:spPr>
        <p:txBody>
          <a:bodyPr wrap="square">
            <a:spAutoFit/>
          </a:bodyPr>
          <a:lstStyle/>
          <a:p>
            <a:pPr algn="l">
              <a:defRPr sz="1600" b="1">
                <a:solidFill>
                  <a:srgbClr val="0F3C6B"/>
                </a:solidFill>
                <a:latin typeface="Calibri"/>
              </a:defRPr>
            </a:pPr>
            <a:r>
              <a:t>Installed R</a:t>
            </a:r>
          </a:p>
        </p:txBody>
      </p:sp>
      <p:sp>
        <p:nvSpPr>
          <p:cNvPr id="10" name="TextBox 9"/>
          <p:cNvSpPr txBox="1"/>
          <p:nvPr/>
        </p:nvSpPr>
        <p:spPr>
          <a:xfrm>
            <a:off x="1554480" y="2468880"/>
            <a:ext cx="9144000" cy="411480"/>
          </a:xfrm>
          <a:prstGeom prst="rect">
            <a:avLst/>
          </a:prstGeom>
          <a:noFill/>
        </p:spPr>
        <p:txBody>
          <a:bodyPr wrap="square">
            <a:spAutoFit/>
          </a:bodyPr>
          <a:lstStyle/>
          <a:p>
            <a:pPr algn="l">
              <a:defRPr sz="1100" b="0">
                <a:solidFill>
                  <a:srgbClr val="4A4A4A"/>
                </a:solidFill>
                <a:latin typeface="Calibri Light"/>
              </a:defRPr>
            </a:pPr>
            <a:r>
              <a:t>You ran the installer and completed all steps successfully.</a:t>
            </a:r>
          </a:p>
        </p:txBody>
      </p:sp>
      <p:sp>
        <p:nvSpPr>
          <p:cNvPr id="11" name="Oval 10"/>
          <p:cNvSpPr/>
          <p:nvPr/>
        </p:nvSpPr>
        <p:spPr>
          <a:xfrm>
            <a:off x="914400" y="292608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12" name="TextBox 11"/>
          <p:cNvSpPr txBox="1"/>
          <p:nvPr/>
        </p:nvSpPr>
        <p:spPr>
          <a:xfrm>
            <a:off x="1554480" y="2944368"/>
            <a:ext cx="4572000" cy="274320"/>
          </a:xfrm>
          <a:prstGeom prst="rect">
            <a:avLst/>
          </a:prstGeom>
          <a:noFill/>
        </p:spPr>
        <p:txBody>
          <a:bodyPr wrap="square">
            <a:spAutoFit/>
          </a:bodyPr>
          <a:lstStyle/>
          <a:p>
            <a:pPr algn="l">
              <a:defRPr sz="1600" b="1">
                <a:solidFill>
                  <a:srgbClr val="0F3C6B"/>
                </a:solidFill>
                <a:latin typeface="Calibri"/>
              </a:defRPr>
            </a:pPr>
            <a:r>
              <a:t>Downloaded and Installed RStudio</a:t>
            </a:r>
          </a:p>
        </p:txBody>
      </p:sp>
      <p:sp>
        <p:nvSpPr>
          <p:cNvPr id="13" name="TextBox 12"/>
          <p:cNvSpPr txBox="1"/>
          <p:nvPr/>
        </p:nvSpPr>
        <p:spPr>
          <a:xfrm>
            <a:off x="1554480" y="3246120"/>
            <a:ext cx="9144000" cy="411480"/>
          </a:xfrm>
          <a:prstGeom prst="rect">
            <a:avLst/>
          </a:prstGeom>
          <a:noFill/>
        </p:spPr>
        <p:txBody>
          <a:bodyPr wrap="square">
            <a:spAutoFit/>
          </a:bodyPr>
          <a:lstStyle/>
          <a:p>
            <a:pPr algn="l">
              <a:defRPr sz="1100" b="0">
                <a:solidFill>
                  <a:srgbClr val="4A4A4A"/>
                </a:solidFill>
                <a:latin typeface="Calibri Light"/>
              </a:defRPr>
            </a:pPr>
            <a:r>
              <a:t>You got the free desktop IDE from Posit and installed it.</a:t>
            </a:r>
          </a:p>
        </p:txBody>
      </p:sp>
      <p:sp>
        <p:nvSpPr>
          <p:cNvPr id="14" name="Oval 13"/>
          <p:cNvSpPr/>
          <p:nvPr/>
        </p:nvSpPr>
        <p:spPr>
          <a:xfrm>
            <a:off x="914400" y="370332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15" name="TextBox 14"/>
          <p:cNvSpPr txBox="1"/>
          <p:nvPr/>
        </p:nvSpPr>
        <p:spPr>
          <a:xfrm>
            <a:off x="1554480" y="3721607"/>
            <a:ext cx="4572000" cy="274320"/>
          </a:xfrm>
          <a:prstGeom prst="rect">
            <a:avLst/>
          </a:prstGeom>
          <a:noFill/>
        </p:spPr>
        <p:txBody>
          <a:bodyPr wrap="square">
            <a:spAutoFit/>
          </a:bodyPr>
          <a:lstStyle/>
          <a:p>
            <a:pPr algn="l">
              <a:defRPr sz="1600" b="1">
                <a:solidFill>
                  <a:srgbClr val="0F3C6B"/>
                </a:solidFill>
                <a:latin typeface="Calibri"/>
              </a:defRPr>
            </a:pPr>
            <a:r>
              <a:t>Launched RStudio</a:t>
            </a:r>
          </a:p>
        </p:txBody>
      </p:sp>
      <p:sp>
        <p:nvSpPr>
          <p:cNvPr id="16" name="TextBox 15"/>
          <p:cNvSpPr txBox="1"/>
          <p:nvPr/>
        </p:nvSpPr>
        <p:spPr>
          <a:xfrm>
            <a:off x="1554480" y="4023359"/>
            <a:ext cx="9144000" cy="411480"/>
          </a:xfrm>
          <a:prstGeom prst="rect">
            <a:avLst/>
          </a:prstGeom>
          <a:noFill/>
        </p:spPr>
        <p:txBody>
          <a:bodyPr wrap="square">
            <a:spAutoFit/>
          </a:bodyPr>
          <a:lstStyle/>
          <a:p>
            <a:pPr algn="l">
              <a:defRPr sz="1100" b="0">
                <a:solidFill>
                  <a:srgbClr val="4A4A4A"/>
                </a:solidFill>
                <a:latin typeface="Calibri Light"/>
              </a:defRPr>
            </a:pPr>
            <a:r>
              <a:t>You opened RStudio and saw the four‑pane interface.</a:t>
            </a:r>
          </a:p>
        </p:txBody>
      </p:sp>
      <p:sp>
        <p:nvSpPr>
          <p:cNvPr id="17" name="Oval 16"/>
          <p:cNvSpPr/>
          <p:nvPr/>
        </p:nvSpPr>
        <p:spPr>
          <a:xfrm>
            <a:off x="914400" y="448056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18" name="TextBox 17"/>
          <p:cNvSpPr txBox="1"/>
          <p:nvPr/>
        </p:nvSpPr>
        <p:spPr>
          <a:xfrm>
            <a:off x="1554480" y="4498848"/>
            <a:ext cx="4572000" cy="274320"/>
          </a:xfrm>
          <a:prstGeom prst="rect">
            <a:avLst/>
          </a:prstGeom>
          <a:noFill/>
        </p:spPr>
        <p:txBody>
          <a:bodyPr wrap="square">
            <a:spAutoFit/>
          </a:bodyPr>
          <a:lstStyle/>
          <a:p>
            <a:pPr algn="l">
              <a:defRPr sz="1600" b="1">
                <a:solidFill>
                  <a:srgbClr val="0F3C6B"/>
                </a:solidFill>
                <a:latin typeface="Calibri"/>
              </a:defRPr>
            </a:pPr>
            <a:r>
              <a:t>Toured the Environment</a:t>
            </a:r>
          </a:p>
        </p:txBody>
      </p:sp>
      <p:sp>
        <p:nvSpPr>
          <p:cNvPr id="19" name="TextBox 18"/>
          <p:cNvSpPr txBox="1"/>
          <p:nvPr/>
        </p:nvSpPr>
        <p:spPr>
          <a:xfrm>
            <a:off x="1554480" y="4800600"/>
            <a:ext cx="9144000" cy="411480"/>
          </a:xfrm>
          <a:prstGeom prst="rect">
            <a:avLst/>
          </a:prstGeom>
          <a:noFill/>
        </p:spPr>
        <p:txBody>
          <a:bodyPr wrap="square">
            <a:spAutoFit/>
          </a:bodyPr>
          <a:lstStyle/>
          <a:p>
            <a:pPr algn="l">
              <a:defRPr sz="1100" b="0">
                <a:solidFill>
                  <a:srgbClr val="4A4A4A"/>
                </a:solidFill>
                <a:latin typeface="Calibri Light"/>
              </a:defRPr>
            </a:pPr>
            <a:r>
              <a:t>You learned about the Script Editor, Console, Environment, and other panes.</a:t>
            </a:r>
          </a:p>
        </p:txBody>
      </p:sp>
      <p:sp>
        <p:nvSpPr>
          <p:cNvPr id="20" name="Oval 19"/>
          <p:cNvSpPr/>
          <p:nvPr/>
        </p:nvSpPr>
        <p:spPr>
          <a:xfrm>
            <a:off x="914400" y="525780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21" name="TextBox 20"/>
          <p:cNvSpPr txBox="1"/>
          <p:nvPr/>
        </p:nvSpPr>
        <p:spPr>
          <a:xfrm>
            <a:off x="1554480" y="5276088"/>
            <a:ext cx="4572000" cy="274320"/>
          </a:xfrm>
          <a:prstGeom prst="rect">
            <a:avLst/>
          </a:prstGeom>
          <a:noFill/>
        </p:spPr>
        <p:txBody>
          <a:bodyPr wrap="square">
            <a:spAutoFit/>
          </a:bodyPr>
          <a:lstStyle/>
          <a:p>
            <a:pPr algn="l">
              <a:defRPr sz="1600" b="1">
                <a:solidFill>
                  <a:srgbClr val="0F3C6B"/>
                </a:solidFill>
                <a:latin typeface="Calibri"/>
              </a:defRPr>
            </a:pPr>
            <a:r>
              <a:t>Ran Your First R Program</a:t>
            </a:r>
          </a:p>
        </p:txBody>
      </p:sp>
      <p:sp>
        <p:nvSpPr>
          <p:cNvPr id="22" name="TextBox 21"/>
          <p:cNvSpPr txBox="1"/>
          <p:nvPr/>
        </p:nvSpPr>
        <p:spPr>
          <a:xfrm>
            <a:off x="1554480" y="5577840"/>
            <a:ext cx="9144000" cy="411480"/>
          </a:xfrm>
          <a:prstGeom prst="rect">
            <a:avLst/>
          </a:prstGeom>
          <a:noFill/>
        </p:spPr>
        <p:txBody>
          <a:bodyPr wrap="square">
            <a:spAutoFit/>
          </a:bodyPr>
          <a:lstStyle/>
          <a:p>
            <a:pPr algn="l">
              <a:defRPr sz="1100" b="0">
                <a:solidFill>
                  <a:srgbClr val="4A4A4A"/>
                </a:solidFill>
                <a:latin typeface="Calibri Light"/>
              </a:defRPr>
            </a:pPr>
            <a:r>
              <a:t>You wrote and executed print("Hello, World!") and saw the output.</a:t>
            </a:r>
          </a:p>
        </p:txBody>
      </p:sp>
      <p:sp>
        <p:nvSpPr>
          <p:cNvPr id="23" name="Oval 22"/>
          <p:cNvSpPr/>
          <p:nvPr/>
        </p:nvSpPr>
        <p:spPr>
          <a:xfrm>
            <a:off x="914400" y="6035040"/>
            <a:ext cx="411480" cy="411480"/>
          </a:xfrm>
          <a:prstGeom prst="ellipse">
            <a:avLst/>
          </a:prstGeom>
          <a:solidFill>
            <a:srgbClr val="0F9D5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Calibri"/>
              </a:defRPr>
            </a:pPr>
            <a:r>
              <a:t>✓</a:t>
            </a:r>
          </a:p>
        </p:txBody>
      </p:sp>
      <p:sp>
        <p:nvSpPr>
          <p:cNvPr id="24" name="TextBox 23"/>
          <p:cNvSpPr txBox="1"/>
          <p:nvPr/>
        </p:nvSpPr>
        <p:spPr>
          <a:xfrm>
            <a:off x="1554480" y="6053327"/>
            <a:ext cx="4572000" cy="274320"/>
          </a:xfrm>
          <a:prstGeom prst="rect">
            <a:avLst/>
          </a:prstGeom>
          <a:noFill/>
        </p:spPr>
        <p:txBody>
          <a:bodyPr wrap="square">
            <a:spAutoFit/>
          </a:bodyPr>
          <a:lstStyle/>
          <a:p>
            <a:pPr algn="l">
              <a:defRPr sz="1600" b="1">
                <a:solidFill>
                  <a:srgbClr val="0F3C6B"/>
                </a:solidFill>
                <a:latin typeface="Calibri"/>
              </a:defRPr>
            </a:pPr>
            <a:r>
              <a:t>Troubleshooting Knowledge</a:t>
            </a:r>
          </a:p>
        </p:txBody>
      </p:sp>
      <p:sp>
        <p:nvSpPr>
          <p:cNvPr id="25" name="TextBox 24"/>
          <p:cNvSpPr txBox="1"/>
          <p:nvPr/>
        </p:nvSpPr>
        <p:spPr>
          <a:xfrm>
            <a:off x="1554480" y="6355079"/>
            <a:ext cx="9144000" cy="411480"/>
          </a:xfrm>
          <a:prstGeom prst="rect">
            <a:avLst/>
          </a:prstGeom>
          <a:noFill/>
        </p:spPr>
        <p:txBody>
          <a:bodyPr wrap="square">
            <a:spAutoFit/>
          </a:bodyPr>
          <a:lstStyle/>
          <a:p>
            <a:pPr algn="l">
              <a:defRPr sz="1100" b="0">
                <a:solidFill>
                  <a:srgbClr val="4A4A4A"/>
                </a:solidFill>
                <a:latin typeface="Calibri Light"/>
              </a:defRPr>
            </a:pPr>
            <a:r>
              <a:t>You now know how to fix common installation and runtime problems.</a:t>
            </a:r>
          </a:p>
        </p:txBody>
      </p:sp>
      <p:sp>
        <p:nvSpPr>
          <p:cNvPr id="26" name="TextBox 25"/>
          <p:cNvSpPr txBox="1"/>
          <p:nvPr/>
        </p:nvSpPr>
        <p:spPr>
          <a:xfrm>
            <a:off x="914400" y="6035040"/>
            <a:ext cx="10058400" cy="457200"/>
          </a:xfrm>
          <a:prstGeom prst="rect">
            <a:avLst/>
          </a:prstGeom>
          <a:noFill/>
        </p:spPr>
        <p:txBody>
          <a:bodyPr wrap="square">
            <a:spAutoFit/>
          </a:bodyPr>
          <a:lstStyle/>
          <a:p>
            <a:pPr algn="l">
              <a:defRPr sz="1500" b="1">
                <a:solidFill>
                  <a:srgbClr val="228B22"/>
                </a:solidFill>
                <a:latin typeface="Calibri Light"/>
              </a:defRPr>
            </a:pPr>
            <a:r>
              <a:t>🚀 You are now ready to begin your statistical programming journey with R!</a:t>
            </a:r>
          </a:p>
        </p:txBody>
      </p:sp>
      <p:sp>
        <p:nvSpPr>
          <p:cNvPr id="27" name="Rectangle 26"/>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28" name="TextBox 27"/>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3C6B"/>
        </a:solidFill>
        <a:effectLst/>
      </p:bgPr>
    </p:bg>
    <p:spTree>
      <p:nvGrpSpPr>
        <p:cNvPr id="1" name=""/>
        <p:cNvGrpSpPr/>
        <p:nvPr/>
      </p:nvGrpSpPr>
      <p:grpSpPr>
        <a:xfrm>
          <a:off x="0" y="0"/>
          <a:ext cx="0" cy="0"/>
          <a:chOff x="0" y="0"/>
          <a:chExt cx="0" cy="0"/>
        </a:xfrm>
      </p:grpSpPr>
      <p:sp>
        <p:nvSpPr>
          <p:cNvPr id="2" name="Oval 1"/>
          <p:cNvSpPr/>
          <p:nvPr/>
        </p:nvSpPr>
        <p:spPr>
          <a:xfrm>
            <a:off x="-1828800" y="2743200"/>
            <a:ext cx="5486400" cy="548640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0" y="-1828800"/>
            <a:ext cx="6400800" cy="6400800"/>
          </a:xfrm>
          <a:prstGeom prst="ellipse">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371600"/>
            <a:ext cx="8229600" cy="1097280"/>
          </a:xfrm>
          <a:prstGeom prst="rect">
            <a:avLst/>
          </a:prstGeom>
          <a:noFill/>
        </p:spPr>
        <p:txBody>
          <a:bodyPr wrap="square">
            <a:spAutoFit/>
          </a:bodyPr>
          <a:lstStyle/>
          <a:p>
            <a:pPr algn="l">
              <a:defRPr sz="4800" b="1">
                <a:solidFill>
                  <a:srgbClr val="FFFFFF"/>
                </a:solidFill>
                <a:latin typeface="Calibri Light"/>
              </a:defRPr>
            </a:pPr>
            <a:r>
              <a:t>Thank You!</a:t>
            </a:r>
          </a:p>
        </p:txBody>
      </p:sp>
      <p:sp>
        <p:nvSpPr>
          <p:cNvPr id="5" name="TextBox 4"/>
          <p:cNvSpPr txBox="1"/>
          <p:nvPr/>
        </p:nvSpPr>
        <p:spPr>
          <a:xfrm>
            <a:off x="1828800" y="2560320"/>
            <a:ext cx="8229600" cy="731520"/>
          </a:xfrm>
          <a:prstGeom prst="rect">
            <a:avLst/>
          </a:prstGeom>
          <a:noFill/>
        </p:spPr>
        <p:txBody>
          <a:bodyPr wrap="square">
            <a:spAutoFit/>
          </a:bodyPr>
          <a:lstStyle/>
          <a:p>
            <a:pPr algn="l">
              <a:defRPr sz="3200" b="0">
                <a:solidFill>
                  <a:srgbClr val="CCDDEE"/>
                </a:solidFill>
                <a:latin typeface="Calibri Light"/>
              </a:defRPr>
            </a:pPr>
            <a:r>
              <a:t>Questions?</a:t>
            </a:r>
          </a:p>
        </p:txBody>
      </p:sp>
      <p:sp>
        <p:nvSpPr>
          <p:cNvPr id="6" name="TextBox 5"/>
          <p:cNvSpPr txBox="1"/>
          <p:nvPr/>
        </p:nvSpPr>
        <p:spPr>
          <a:xfrm>
            <a:off x="1828800" y="3474720"/>
            <a:ext cx="8229600" cy="457200"/>
          </a:xfrm>
          <a:prstGeom prst="rect">
            <a:avLst/>
          </a:prstGeom>
          <a:noFill/>
        </p:spPr>
        <p:txBody>
          <a:bodyPr wrap="square">
            <a:spAutoFit/>
          </a:bodyPr>
          <a:lstStyle/>
          <a:p>
            <a:pPr algn="l">
              <a:defRPr sz="1800" b="0">
                <a:solidFill>
                  <a:srgbClr val="FFFFFF"/>
                </a:solidFill>
                <a:latin typeface="Calibri Light"/>
              </a:defRPr>
            </a:pPr>
            <a:r>
              <a:t>Prepared by Dalton Womala</a:t>
            </a:r>
          </a:p>
        </p:txBody>
      </p:sp>
      <p:sp>
        <p:nvSpPr>
          <p:cNvPr id="7" name="Rectangle 6"/>
          <p:cNvSpPr/>
          <p:nvPr/>
        </p:nvSpPr>
        <p:spPr>
          <a:xfrm>
            <a:off x="1828800" y="4114800"/>
            <a:ext cx="2743200" cy="36576"/>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4389120"/>
            <a:ext cx="8229600" cy="307777"/>
          </a:xfrm>
          <a:prstGeom prst="rect">
            <a:avLst/>
          </a:prstGeom>
          <a:noFill/>
        </p:spPr>
        <p:txBody>
          <a:bodyPr wrap="square">
            <a:spAutoFit/>
          </a:bodyPr>
          <a:lstStyle/>
          <a:p>
            <a:pPr algn="l">
              <a:defRPr sz="1400" b="0">
                <a:solidFill>
                  <a:srgbClr val="FFFFFF"/>
                </a:solidFill>
                <a:latin typeface="Calibri Light"/>
              </a:defRPr>
            </a:pPr>
            <a:r>
              <a:rPr dirty="0"/>
              <a:t>📧 </a:t>
            </a:r>
            <a:r>
              <a:rPr dirty="0">
                <a:solidFill>
                  <a:schemeClr val="bg1"/>
                </a:solidFill>
                <a:hlinkClick r:id="rId3">
                  <a:extLst>
                    <a:ext uri="{A12FA001-AC4F-418D-AE19-62706E023703}">
                      <ahyp:hlinkClr xmlns:ahyp="http://schemas.microsoft.com/office/drawing/2018/hyperlinkcolor" val="tx"/>
                    </a:ext>
                  </a:extLst>
                </a:hlinkClick>
              </a:rPr>
              <a:t>dalton</a:t>
            </a:r>
            <a:r>
              <a:rPr lang="en-US" dirty="0">
                <a:solidFill>
                  <a:schemeClr val="bg1"/>
                </a:solidFill>
                <a:hlinkClick r:id="rId3">
                  <a:extLst>
                    <a:ext uri="{A12FA001-AC4F-418D-AE19-62706E023703}">
                      <ahyp:hlinkClr xmlns:ahyp="http://schemas.microsoft.com/office/drawing/2018/hyperlinkcolor" val="tx"/>
                    </a:ext>
                  </a:extLst>
                </a:hlinkClick>
              </a:rPr>
              <a:t>w</a:t>
            </a:r>
            <a:r>
              <a:rPr dirty="0">
                <a:solidFill>
                  <a:schemeClr val="bg1"/>
                </a:solidFill>
                <a:hlinkClick r:id="rId3">
                  <a:extLst>
                    <a:ext uri="{A12FA001-AC4F-418D-AE19-62706E023703}">
                      <ahyp:hlinkClr xmlns:ahyp="http://schemas.microsoft.com/office/drawing/2018/hyperlinkcolor" val="tx"/>
                    </a:ext>
                  </a:extLst>
                </a:hlinkClick>
              </a:rPr>
              <a:t>omala</a:t>
            </a:r>
            <a:r>
              <a:rPr lang="en-US" dirty="0">
                <a:solidFill>
                  <a:schemeClr val="bg1"/>
                </a:solidFill>
                <a:hlinkClick r:id="rId3">
                  <a:extLst>
                    <a:ext uri="{A12FA001-AC4F-418D-AE19-62706E023703}">
                      <ahyp:hlinkClr xmlns:ahyp="http://schemas.microsoft.com/office/drawing/2018/hyperlinkcolor" val="tx"/>
                    </a:ext>
                  </a:extLst>
                </a:hlinkClick>
              </a:rPr>
              <a:t>jeremiah</a:t>
            </a:r>
            <a:r>
              <a:rPr dirty="0">
                <a:solidFill>
                  <a:schemeClr val="bg1"/>
                </a:solidFill>
                <a:hlinkClick r:id="rId3">
                  <a:extLst>
                    <a:ext uri="{A12FA001-AC4F-418D-AE19-62706E023703}">
                      <ahyp:hlinkClr xmlns:ahyp="http://schemas.microsoft.com/office/drawing/2018/hyperlinkcolor" val="tx"/>
                    </a:ext>
                  </a:extLst>
                </a:hlinkClick>
              </a:rPr>
              <a:t>@</a:t>
            </a:r>
            <a:r>
              <a:rPr lang="en-US" dirty="0">
                <a:solidFill>
                  <a:schemeClr val="bg1"/>
                </a:solidFill>
                <a:hlinkClick r:id="rId3">
                  <a:extLst>
                    <a:ext uri="{A12FA001-AC4F-418D-AE19-62706E023703}">
                      <ahyp:hlinkClr xmlns:ahyp="http://schemas.microsoft.com/office/drawing/2018/hyperlinkcolor" val="tx"/>
                    </a:ext>
                  </a:extLst>
                </a:hlinkClick>
              </a:rPr>
              <a:t>gmail.com</a:t>
            </a:r>
            <a:r>
              <a:rPr lang="en-US" dirty="0">
                <a:solidFill>
                  <a:schemeClr val="bg1"/>
                </a:solidFill>
              </a:rPr>
              <a:t>                    [+256778397568]</a:t>
            </a:r>
            <a:endParaRPr dirty="0">
              <a:solidFill>
                <a:schemeClr val="bg1"/>
              </a:solidFill>
            </a:endParaRPr>
          </a:p>
        </p:txBody>
      </p:sp>
      <p:sp>
        <p:nvSpPr>
          <p:cNvPr id="9" name="TextBox 8"/>
          <p:cNvSpPr txBox="1"/>
          <p:nvPr/>
        </p:nvSpPr>
        <p:spPr>
          <a:xfrm>
            <a:off x="1828800" y="4846320"/>
            <a:ext cx="8229600" cy="365760"/>
          </a:xfrm>
          <a:prstGeom prst="rect">
            <a:avLst/>
          </a:prstGeom>
          <a:noFill/>
        </p:spPr>
        <p:txBody>
          <a:bodyPr wrap="square">
            <a:spAutoFit/>
          </a:bodyPr>
          <a:lstStyle/>
          <a:p>
            <a:pPr algn="l">
              <a:defRPr sz="1400" b="0">
                <a:solidFill>
                  <a:srgbClr val="FFFFFF"/>
                </a:solidFill>
                <a:latin typeface="Calibri Light"/>
              </a:defRPr>
            </a:pPr>
            <a:r>
              <a:t>🌐 Slides available on the course portal</a:t>
            </a:r>
          </a:p>
        </p:txBody>
      </p:sp>
      <p:sp>
        <p:nvSpPr>
          <p:cNvPr id="10" name="Oval 9"/>
          <p:cNvSpPr/>
          <p:nvPr/>
        </p:nvSpPr>
        <p:spPr>
          <a:xfrm>
            <a:off x="6400800" y="5303520"/>
            <a:ext cx="731520" cy="731520"/>
          </a:xfrm>
          <a:prstGeom prst="ellipse">
            <a:avLst/>
          </a:prstGeom>
          <a:solidFill>
            <a:srgbClr val="276DC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FFFFF"/>
                </a:solidFill>
                <a:latin typeface="Calibri"/>
              </a:defRPr>
            </a:pPr>
            <a:r>
              <a:t>R</a:t>
            </a:r>
          </a:p>
        </p:txBody>
      </p:sp>
      <p:sp>
        <p:nvSpPr>
          <p:cNvPr id="11" name="TextBox 10"/>
          <p:cNvSpPr txBox="1"/>
          <p:nvPr/>
        </p:nvSpPr>
        <p:spPr>
          <a:xfrm>
            <a:off x="7223760" y="5486400"/>
            <a:ext cx="1097280" cy="320040"/>
          </a:xfrm>
          <a:prstGeom prst="rect">
            <a:avLst/>
          </a:prstGeom>
          <a:noFill/>
        </p:spPr>
        <p:txBody>
          <a:bodyPr wrap="square">
            <a:spAutoFit/>
          </a:bodyPr>
          <a:lstStyle/>
          <a:p>
            <a:pPr algn="l">
              <a:defRPr sz="1000" b="0">
                <a:solidFill>
                  <a:srgbClr val="FFFFFF"/>
                </a:solidFill>
                <a:latin typeface="Calibri"/>
              </a:defRPr>
            </a:pPr>
            <a:r>
              <a:t>R Project</a:t>
            </a:r>
          </a:p>
        </p:txBody>
      </p:sp>
      <p:sp>
        <p:nvSpPr>
          <p:cNvPr id="12" name="Oval 11"/>
          <p:cNvSpPr/>
          <p:nvPr/>
        </p:nvSpPr>
        <p:spPr>
          <a:xfrm>
            <a:off x="8503920" y="5303520"/>
            <a:ext cx="731520" cy="731520"/>
          </a:xfrm>
          <a:prstGeom prst="ellipse">
            <a:avLst/>
          </a:prstGeom>
          <a:solidFill>
            <a:srgbClr val="44709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FFFFF"/>
                </a:solidFill>
                <a:latin typeface="Calibri"/>
              </a:defRPr>
            </a:pPr>
            <a:r>
              <a:t>Ⓡ</a:t>
            </a:r>
          </a:p>
        </p:txBody>
      </p:sp>
      <p:sp>
        <p:nvSpPr>
          <p:cNvPr id="13" name="TextBox 12"/>
          <p:cNvSpPr txBox="1"/>
          <p:nvPr/>
        </p:nvSpPr>
        <p:spPr>
          <a:xfrm>
            <a:off x="9326880" y="5486400"/>
            <a:ext cx="1371600" cy="320040"/>
          </a:xfrm>
          <a:prstGeom prst="rect">
            <a:avLst/>
          </a:prstGeom>
          <a:noFill/>
        </p:spPr>
        <p:txBody>
          <a:bodyPr wrap="square">
            <a:spAutoFit/>
          </a:bodyPr>
          <a:lstStyle/>
          <a:p>
            <a:pPr algn="l">
              <a:defRPr sz="1000" b="0">
                <a:solidFill>
                  <a:srgbClr val="FFFFFF"/>
                </a:solidFill>
                <a:latin typeface="Calibri"/>
              </a:defRPr>
            </a:pPr>
            <a:r>
              <a:t>Posit (RStudio)</a:t>
            </a:r>
          </a:p>
        </p:txBody>
      </p:sp>
      <p:sp>
        <p:nvSpPr>
          <p:cNvPr id="14" name="Rectangle 13"/>
          <p:cNvSpPr/>
          <p:nvPr/>
        </p:nvSpPr>
        <p:spPr>
          <a:xfrm>
            <a:off x="0" y="6537960"/>
            <a:ext cx="12188952" cy="320040"/>
          </a:xfrm>
          <a:prstGeom prst="rect">
            <a:avLst/>
          </a:prstGeom>
          <a:solidFill>
            <a:srgbClr val="0F3C6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800">
                <a:solidFill>
                  <a:srgbClr val="FFFFFF"/>
                </a:solidFill>
                <a:latin typeface="Calibri"/>
              </a:defRPr>
            </a:pPr>
            <a:r>
              <a:t>Prepared by Dalton Womala</a:t>
            </a:r>
          </a:p>
        </p:txBody>
      </p:sp>
      <p:sp>
        <p:nvSpPr>
          <p:cNvPr id="15" name="TextBox 14"/>
          <p:cNvSpPr txBox="1"/>
          <p:nvPr/>
        </p:nvSpPr>
        <p:spPr>
          <a:xfrm>
            <a:off x="10515600" y="6537960"/>
            <a:ext cx="1554480" cy="320040"/>
          </a:xfrm>
          <a:prstGeom prst="rect">
            <a:avLst/>
          </a:prstGeom>
          <a:noFill/>
        </p:spPr>
        <p:txBody>
          <a:bodyPr wrap="square">
            <a:spAutoFit/>
          </a:bodyPr>
          <a:lstStyle/>
          <a:p>
            <a:pPr algn="r">
              <a:defRPr sz="800" b="0">
                <a:solidFill>
                  <a:srgbClr val="FFFFFF"/>
                </a:solidFill>
                <a:latin typeface="Calibri"/>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4511</Words>
  <Application>Microsoft Office PowerPoint</Application>
  <PresentationFormat>Custom</PresentationFormat>
  <Paragraphs>370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Dalton Womala</cp:lastModifiedBy>
  <cp:revision>2</cp:revision>
  <dcterms:created xsi:type="dcterms:W3CDTF">2013-01-27T09:14:16Z</dcterms:created>
  <dcterms:modified xsi:type="dcterms:W3CDTF">2026-07-15T23:11:46Z</dcterms:modified>
  <cp:category/>
</cp:coreProperties>
</file>